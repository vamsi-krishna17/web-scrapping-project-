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90" r:id="rId3"/>
    <p:sldId id="260" r:id="rId4"/>
    <p:sldId id="262" r:id="rId5"/>
    <p:sldId id="263" r:id="rId6"/>
    <p:sldId id="265" r:id="rId7"/>
    <p:sldId id="273" r:id="rId8"/>
    <p:sldId id="267" r:id="rId9"/>
    <p:sldId id="268" r:id="rId10"/>
    <p:sldId id="270" r:id="rId11"/>
    <p:sldId id="274" r:id="rId12"/>
    <p:sldId id="275" r:id="rId13"/>
    <p:sldId id="271" r:id="rId14"/>
    <p:sldId id="272" r:id="rId15"/>
    <p:sldId id="277" r:id="rId16"/>
    <p:sldId id="278" r:id="rId17"/>
    <p:sldId id="279" r:id="rId18"/>
    <p:sldId id="280" r:id="rId19"/>
    <p:sldId id="281" r:id="rId20"/>
    <p:sldId id="282" r:id="rId21"/>
    <p:sldId id="283" r:id="rId22"/>
    <p:sldId id="285" r:id="rId23"/>
    <p:sldId id="286" r:id="rId24"/>
    <p:sldId id="287" r:id="rId25"/>
    <p:sldId id="288" r:id="rId26"/>
    <p:sldId id="259" r:id="rId27"/>
  </p:sldIdLst>
  <p:sldSz cx="12192000" cy="6858000"/>
  <p:notesSz cx="6858000" cy="9144000"/>
  <p:embeddedFontLst>
    <p:embeddedFont>
      <p:font typeface="Lato Black" panose="020F0502020204030203" pitchFamily="34" charset="0"/>
      <p:bold r:id="rId29"/>
      <p:boldItalic r:id="rId30"/>
    </p:embeddedFont>
    <p:embeddedFont>
      <p:font typeface="Libre Baskerville" panose="02000000000000000000" pitchFamily="2" charset="0"/>
      <p:regular r:id="rId31"/>
      <p:bold r:id="rId32"/>
      <p: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5" roundtripDataSignature="AMtx7mhnFQsu0qTBRZ+C47HNp0tuHCNko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160" autoAdjust="0"/>
    <p:restoredTop sz="94849" autoAdjust="0"/>
  </p:normalViewPr>
  <p:slideViewPr>
    <p:cSldViewPr snapToGrid="0">
      <p:cViewPr varScale="1">
        <p:scale>
          <a:sx n="76" d="100"/>
          <a:sy n="76" d="100"/>
        </p:scale>
        <p:origin x="60" y="1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isetti Vamsi Krishna" userId="57717fbdca21559b" providerId="LiveId" clId="{A6369BEF-DD9F-47F4-886F-5B4289EB02FF}"/>
    <pc:docChg chg="delSld modSld">
      <pc:chgData name="Surisetti Vamsi Krishna" userId="57717fbdca21559b" providerId="LiveId" clId="{A6369BEF-DD9F-47F4-886F-5B4289EB02FF}" dt="2026-01-31T10:21:38.866" v="3" actId="2696"/>
      <pc:docMkLst>
        <pc:docMk/>
      </pc:docMkLst>
      <pc:sldChg chg="modSp mod">
        <pc:chgData name="Surisetti Vamsi Krishna" userId="57717fbdca21559b" providerId="LiveId" clId="{A6369BEF-DD9F-47F4-886F-5B4289EB02FF}" dt="2026-01-31T10:06:20.787" v="2" actId="403"/>
        <pc:sldMkLst>
          <pc:docMk/>
          <pc:sldMk cId="0" sldId="256"/>
        </pc:sldMkLst>
        <pc:spChg chg="mod">
          <ac:chgData name="Surisetti Vamsi Krishna" userId="57717fbdca21559b" providerId="LiveId" clId="{A6369BEF-DD9F-47F4-886F-5B4289EB02FF}" dt="2026-01-31T10:06:20.787" v="2" actId="403"/>
          <ac:spMkLst>
            <pc:docMk/>
            <pc:sldMk cId="0" sldId="256"/>
            <ac:spMk id="99" creationId="{00000000-0000-0000-0000-000000000000}"/>
          </ac:spMkLst>
        </pc:spChg>
      </pc:sldChg>
      <pc:sldChg chg="del">
        <pc:chgData name="Surisetti Vamsi Krishna" userId="57717fbdca21559b" providerId="LiveId" clId="{A6369BEF-DD9F-47F4-886F-5B4289EB02FF}" dt="2026-01-31T10:21:38.866" v="3" actId="2696"/>
        <pc:sldMkLst>
          <pc:docMk/>
          <pc:sldMk cId="0" sldId="25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7" name="Google Shape;27;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694098"/>
          </a:xfrm>
          <a:prstGeom prst="rect">
            <a:avLst/>
          </a:prstGeom>
          <a:noFill/>
          <a:ln>
            <a:noFill/>
          </a:ln>
        </p:spPr>
      </p:pic>
      <p:sp>
        <p:nvSpPr>
          <p:cNvPr id="99" name="Google Shape;99;p1"/>
          <p:cNvSpPr txBox="1"/>
          <p:nvPr/>
        </p:nvSpPr>
        <p:spPr>
          <a:xfrm>
            <a:off x="2472904" y="3717986"/>
            <a:ext cx="7246189" cy="830956"/>
          </a:xfrm>
          <a:prstGeom prst="rect">
            <a:avLst/>
          </a:prstGeom>
          <a:noFill/>
          <a:ln>
            <a:noFill/>
          </a:ln>
        </p:spPr>
        <p:txBody>
          <a:bodyPr spcFirstLastPara="1" wrap="square" lIns="91425" tIns="45700" rIns="91425" bIns="45700" anchor="t" anchorCtr="0">
            <a:spAutoFit/>
          </a:bodyPr>
          <a:lstStyle/>
          <a:p>
            <a:pPr lvl="0" algn="ctr"/>
            <a:r>
              <a:rPr lang="en-US" sz="2400" b="1" dirty="0"/>
              <a:t>Analysis of Used Car Resale Prices using Web Scraping and Exploratory Data Analysis</a:t>
            </a:r>
            <a:endParaRPr sz="2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05;p3">
            <a:extLst>
              <a:ext uri="{FF2B5EF4-FFF2-40B4-BE49-F238E27FC236}">
                <a16:creationId xmlns:a16="http://schemas.microsoft.com/office/drawing/2014/main" id="{2DA5E036-88DA-8747-583D-651B431C509E}"/>
              </a:ext>
            </a:extLst>
          </p:cNvPr>
          <p:cNvSpPr txBox="1"/>
          <p:nvPr/>
        </p:nvSpPr>
        <p:spPr>
          <a:xfrm>
            <a:off x="771605" y="961838"/>
            <a:ext cx="2315544"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About me</a:t>
            </a:r>
            <a:endParaRPr sz="1800" b="0" i="0" u="none" strike="noStrike" cap="none" dirty="0">
              <a:solidFill>
                <a:srgbClr val="FF0000"/>
              </a:solidFill>
              <a:latin typeface="Calibri"/>
              <a:ea typeface="Calibri"/>
              <a:cs typeface="Calibri"/>
              <a:sym typeface="Calibri"/>
            </a:endParaRPr>
          </a:p>
        </p:txBody>
      </p:sp>
      <p:sp>
        <p:nvSpPr>
          <p:cNvPr id="4" name="Google Shape;104;p3">
            <a:extLst>
              <a:ext uri="{FF2B5EF4-FFF2-40B4-BE49-F238E27FC236}">
                <a16:creationId xmlns:a16="http://schemas.microsoft.com/office/drawing/2014/main" id="{D8BE835A-058A-F6B1-1871-F85C3CFD04CF}"/>
              </a:ext>
            </a:extLst>
          </p:cNvPr>
          <p:cNvSpPr txBox="1"/>
          <p:nvPr/>
        </p:nvSpPr>
        <p:spPr>
          <a:xfrm>
            <a:off x="525500" y="1905526"/>
            <a:ext cx="11140999" cy="3600945"/>
          </a:xfrm>
          <a:prstGeom prst="rect">
            <a:avLst/>
          </a:prstGeom>
          <a:noFill/>
          <a:ln>
            <a:noFill/>
          </a:ln>
        </p:spPr>
        <p:txBody>
          <a:bodyPr spcFirstLastPara="1" wrap="square" lIns="91425" tIns="45700" rIns="91425" bIns="45700" anchor="t" anchorCtr="0">
            <a:spAutoFit/>
          </a:bodyPr>
          <a:lstStyle/>
          <a:p>
            <a:pPr marR="0" lvl="0" algn="l" rtl="0">
              <a:spcBef>
                <a:spcPts val="0"/>
              </a:spcBef>
              <a:spcAft>
                <a:spcPts val="0"/>
              </a:spcAft>
              <a:buClr>
                <a:schemeClr val="dk1"/>
              </a:buClr>
              <a:buSzPts val="1800"/>
            </a:pPr>
            <a:r>
              <a:rPr lang="en-US" sz="2000" dirty="0">
                <a:solidFill>
                  <a:schemeClr val="dk1"/>
                </a:solidFill>
                <a:latin typeface="Calibri"/>
                <a:ea typeface="Calibri"/>
                <a:cs typeface="Calibri"/>
                <a:sym typeface="Calibri"/>
              </a:rPr>
              <a:t>I am </a:t>
            </a:r>
            <a:r>
              <a:rPr lang="en-US" sz="2000" dirty="0" err="1">
                <a:solidFill>
                  <a:schemeClr val="dk1"/>
                </a:solidFill>
                <a:latin typeface="Calibri"/>
                <a:ea typeface="Calibri"/>
                <a:cs typeface="Calibri"/>
                <a:sym typeface="Calibri"/>
              </a:rPr>
              <a:t>S.Vamsi</a:t>
            </a:r>
            <a:r>
              <a:rPr lang="en-US" sz="2000" dirty="0">
                <a:solidFill>
                  <a:schemeClr val="dk1"/>
                </a:solidFill>
                <a:latin typeface="Calibri"/>
                <a:ea typeface="Calibri"/>
                <a:cs typeface="Calibri"/>
                <a:sym typeface="Calibri"/>
              </a:rPr>
              <a:t> Krishna from the Visakhapatnam. I completed my graduation in computer science and Engineering from the Vignan Institute of information technology</a:t>
            </a:r>
            <a:r>
              <a:rPr lang="en-US" sz="1800" dirty="0">
                <a:solidFill>
                  <a:schemeClr val="dk1"/>
                </a:solidFill>
                <a:latin typeface="Calibri"/>
                <a:ea typeface="Calibri"/>
                <a:cs typeface="Calibri"/>
                <a:sym typeface="Calibri"/>
              </a:rPr>
              <a:t>.</a:t>
            </a:r>
          </a:p>
          <a:p>
            <a:pPr marR="0" lvl="0" algn="l" rtl="0">
              <a:spcBef>
                <a:spcPts val="0"/>
              </a:spcBef>
              <a:spcAft>
                <a:spcPts val="0"/>
              </a:spcAft>
              <a:buClr>
                <a:schemeClr val="dk1"/>
              </a:buClr>
              <a:buSzPts val="1800"/>
            </a:pPr>
            <a:endParaRPr lang="en-US" sz="1800" dirty="0">
              <a:solidFill>
                <a:schemeClr val="dk1"/>
              </a:solidFill>
              <a:latin typeface="Calibri"/>
              <a:ea typeface="Calibri"/>
              <a:cs typeface="Calibri"/>
              <a:sym typeface="Calibri"/>
            </a:endParaRPr>
          </a:p>
          <a:p>
            <a:pPr lvl="0">
              <a:buClr>
                <a:schemeClr val="dk1"/>
              </a:buClr>
              <a:buSzPts val="1800"/>
            </a:pPr>
            <a:r>
              <a:rPr lang="en-US" sz="2000" dirty="0"/>
              <a:t>I want to learn Data Science because AI is shaping the future, and Data Science forms the foundation of AI. I am deeply curious about how raw data is transformed into meaningful insights and intelligent systems. I see Data Science as a long-term career path that allows continuous learning, problem-solving, and the opportunity to work on real-world, impactful challenges</a:t>
            </a:r>
            <a:r>
              <a:rPr lang="en-US" sz="1800" dirty="0"/>
              <a:t>.</a:t>
            </a:r>
            <a:br>
              <a:rPr lang="en-US" sz="1800" dirty="0">
                <a:solidFill>
                  <a:schemeClr val="dk1"/>
                </a:solidFill>
                <a:latin typeface="Calibri"/>
                <a:ea typeface="Calibri"/>
                <a:cs typeface="Calibri"/>
                <a:sym typeface="Calibri"/>
              </a:rPr>
            </a:br>
            <a:endParaRPr lang="en-US" sz="1800" dirty="0">
              <a:solidFill>
                <a:schemeClr val="dk1"/>
              </a:solidFill>
              <a:latin typeface="Calibri"/>
              <a:ea typeface="Calibri"/>
              <a:cs typeface="Calibri"/>
              <a:sym typeface="Calibri"/>
            </a:endParaRPr>
          </a:p>
          <a:p>
            <a:pPr lvl="0">
              <a:buClr>
                <a:schemeClr val="dk1"/>
              </a:buClr>
              <a:buSzPts val="1800"/>
            </a:pPr>
            <a:r>
              <a:rPr lang="en-US" sz="1800" b="1" dirty="0">
                <a:solidFill>
                  <a:schemeClr val="dk1"/>
                </a:solidFill>
                <a:latin typeface="Calibri"/>
                <a:ea typeface="Calibri"/>
                <a:cs typeface="Calibri"/>
                <a:sym typeface="Calibri"/>
              </a:rPr>
              <a:t>LinkedIn</a:t>
            </a:r>
            <a:r>
              <a:rPr lang="en-US" sz="1800" dirty="0">
                <a:solidFill>
                  <a:schemeClr val="dk1"/>
                </a:solidFill>
                <a:latin typeface="Calibri"/>
                <a:ea typeface="Calibri"/>
                <a:cs typeface="Calibri"/>
                <a:sym typeface="Calibri"/>
              </a:rPr>
              <a:t> : https://www.linkedin.com/in/surisetti-vamsikrishna-54627425a/</a:t>
            </a:r>
          </a:p>
          <a:p>
            <a:pPr lvl="0">
              <a:buClr>
                <a:schemeClr val="dk1"/>
              </a:buClr>
              <a:buSzPts val="1800"/>
            </a:pPr>
            <a:endParaRPr lang="en-US" sz="1800" dirty="0">
              <a:solidFill>
                <a:schemeClr val="dk1"/>
              </a:solidFill>
              <a:latin typeface="Calibri"/>
              <a:ea typeface="Calibri"/>
              <a:cs typeface="Calibri"/>
              <a:sym typeface="Calibri"/>
            </a:endParaRPr>
          </a:p>
          <a:p>
            <a:pPr lvl="0">
              <a:buClr>
                <a:schemeClr val="dk1"/>
              </a:buClr>
              <a:buSzPts val="1800"/>
            </a:pPr>
            <a:r>
              <a:rPr lang="en-US" sz="1800" b="1" dirty="0">
                <a:solidFill>
                  <a:schemeClr val="dk1"/>
                </a:solidFill>
                <a:latin typeface="Calibri"/>
                <a:ea typeface="Calibri"/>
                <a:cs typeface="Calibri"/>
                <a:sym typeface="Calibri"/>
              </a:rPr>
              <a:t>GITHUB</a:t>
            </a:r>
            <a:r>
              <a:rPr lang="en-US" sz="1800" dirty="0">
                <a:solidFill>
                  <a:schemeClr val="dk1"/>
                </a:solidFill>
                <a:latin typeface="Calibri"/>
                <a:ea typeface="Calibri"/>
                <a:cs typeface="Calibri"/>
                <a:sym typeface="Calibri"/>
              </a:rPr>
              <a:t> : https://github.com/Vamsi-krishna17</a:t>
            </a:r>
          </a:p>
          <a:p>
            <a:pPr lvl="0">
              <a:buClr>
                <a:schemeClr val="dk1"/>
              </a:buClr>
              <a:buSzPts val="1800"/>
            </a:pPr>
            <a:endParaRPr sz="18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38800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1B937-612A-3ABB-4DED-6408AA8F0230}"/>
              </a:ext>
            </a:extLst>
          </p:cNvPr>
          <p:cNvSpPr>
            <a:spLocks noGrp="1"/>
          </p:cNvSpPr>
          <p:nvPr>
            <p:ph type="title"/>
          </p:nvPr>
        </p:nvSpPr>
        <p:spPr>
          <a:xfrm>
            <a:off x="662031" y="345478"/>
            <a:ext cx="10515600" cy="1009651"/>
          </a:xfrm>
        </p:spPr>
        <p:txBody>
          <a:bodyPr/>
          <a:lstStyle/>
          <a:p>
            <a:r>
              <a:rPr lang="en-US" dirty="0">
                <a:solidFill>
                  <a:srgbClr val="FF0000"/>
                </a:solidFill>
              </a:rPr>
              <a:t>Used Car Pricing &amp; Valuation Problem</a:t>
            </a:r>
          </a:p>
        </p:txBody>
      </p:sp>
      <p:sp>
        <p:nvSpPr>
          <p:cNvPr id="3" name="Text Placeholder 2">
            <a:extLst>
              <a:ext uri="{FF2B5EF4-FFF2-40B4-BE49-F238E27FC236}">
                <a16:creationId xmlns:a16="http://schemas.microsoft.com/office/drawing/2014/main" id="{15039924-E662-0B3E-9D27-E6EA9B0010DC}"/>
              </a:ext>
            </a:extLst>
          </p:cNvPr>
          <p:cNvSpPr>
            <a:spLocks noGrp="1"/>
          </p:cNvSpPr>
          <p:nvPr>
            <p:ph type="body" idx="1"/>
          </p:nvPr>
        </p:nvSpPr>
        <p:spPr>
          <a:xfrm>
            <a:off x="519418" y="1355129"/>
            <a:ext cx="10515600" cy="1286691"/>
          </a:xfrm>
        </p:spPr>
        <p:txBody>
          <a:bodyPr>
            <a:normAutofit lnSpcReduction="10000"/>
          </a:bodyPr>
          <a:lstStyle/>
          <a:p>
            <a:pPr marL="114300" indent="0">
              <a:buNone/>
            </a:pPr>
            <a:r>
              <a:rPr lang="en-US" dirty="0"/>
              <a:t>The project belongs to the Automobile Resale / Used Car Marketplace domain, where digital platforms like </a:t>
            </a:r>
            <a:r>
              <a:rPr lang="en-US" b="1" dirty="0"/>
              <a:t>Cars24</a:t>
            </a:r>
            <a:r>
              <a:rPr lang="en-US" dirty="0"/>
              <a:t> enable individuals to buy and sell pre-owned vehicles online.</a:t>
            </a:r>
          </a:p>
          <a:p>
            <a:pPr marL="114300" indent="0">
              <a:buNone/>
            </a:pPr>
            <a:endParaRPr lang="en-US" dirty="0"/>
          </a:p>
          <a:p>
            <a:pPr marL="114300" indent="0">
              <a:buNone/>
            </a:pPr>
            <a:endParaRPr lang="en-US" dirty="0"/>
          </a:p>
        </p:txBody>
      </p:sp>
      <p:sp>
        <p:nvSpPr>
          <p:cNvPr id="6" name="TextBox 5">
            <a:extLst>
              <a:ext uri="{FF2B5EF4-FFF2-40B4-BE49-F238E27FC236}">
                <a16:creationId xmlns:a16="http://schemas.microsoft.com/office/drawing/2014/main" id="{4EC05ECE-9D98-D58D-369A-A06139814BFE}"/>
              </a:ext>
            </a:extLst>
          </p:cNvPr>
          <p:cNvSpPr txBox="1"/>
          <p:nvPr/>
        </p:nvSpPr>
        <p:spPr>
          <a:xfrm>
            <a:off x="569053" y="2859667"/>
            <a:ext cx="10117123" cy="3539430"/>
          </a:xfrm>
          <a:prstGeom prst="rect">
            <a:avLst/>
          </a:prstGeom>
          <a:noFill/>
        </p:spPr>
        <p:txBody>
          <a:bodyPr wrap="square" rtlCol="0">
            <a:spAutoFit/>
          </a:bodyPr>
          <a:lstStyle/>
          <a:p>
            <a:r>
              <a:rPr lang="en-US" sz="2800" dirty="0"/>
              <a:t>In this domain:</a:t>
            </a:r>
          </a:p>
          <a:p>
            <a:endParaRPr lang="en-US" sz="2800" dirty="0"/>
          </a:p>
          <a:p>
            <a:pPr marL="457200" indent="-457200">
              <a:buFont typeface="Arial" panose="020B0604020202020204" pitchFamily="34" charset="0"/>
              <a:buChar char="•"/>
            </a:pPr>
            <a:r>
              <a:rPr lang="en-US" sz="2800" dirty="0"/>
              <a:t>Each vehicle is physically tied to a city</a:t>
            </a:r>
          </a:p>
          <a:p>
            <a:pPr marL="457200" indent="-457200">
              <a:buFont typeface="Arial" panose="020B0604020202020204" pitchFamily="34" charset="0"/>
              <a:buChar char="•"/>
            </a:pPr>
            <a:r>
              <a:rPr lang="en-US" sz="2800" dirty="0"/>
              <a:t>Resale value depends on multiple vehicle attributes</a:t>
            </a:r>
          </a:p>
          <a:p>
            <a:pPr marL="457200" indent="-457200">
              <a:buFont typeface="Arial" panose="020B0604020202020204" pitchFamily="34" charset="0"/>
              <a:buChar char="•"/>
            </a:pPr>
            <a:r>
              <a:rPr lang="en-US" sz="2800" dirty="0"/>
              <a:t>Pricing is influenced by market demand, usage, and vehicle condition</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9361773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FCBE9-605C-E0FD-22F1-B77EDE38DBC6}"/>
              </a:ext>
            </a:extLst>
          </p:cNvPr>
          <p:cNvSpPr>
            <a:spLocks noGrp="1"/>
          </p:cNvSpPr>
          <p:nvPr>
            <p:ph type="title"/>
          </p:nvPr>
        </p:nvSpPr>
        <p:spPr>
          <a:xfrm>
            <a:off x="838200" y="436228"/>
            <a:ext cx="6233719" cy="1115736"/>
          </a:xfrm>
        </p:spPr>
        <p:txBody>
          <a:bodyPr>
            <a:normAutofit/>
          </a:bodyPr>
          <a:lstStyle/>
          <a:p>
            <a:r>
              <a:rPr lang="en-US" sz="4800" dirty="0">
                <a:solidFill>
                  <a:srgbClr val="FF0000"/>
                </a:solidFill>
              </a:rPr>
              <a:t>Objective of the Project</a:t>
            </a:r>
          </a:p>
        </p:txBody>
      </p:sp>
      <p:sp>
        <p:nvSpPr>
          <p:cNvPr id="3" name="Text Placeholder 2">
            <a:extLst>
              <a:ext uri="{FF2B5EF4-FFF2-40B4-BE49-F238E27FC236}">
                <a16:creationId xmlns:a16="http://schemas.microsoft.com/office/drawing/2014/main" id="{AF42C5F3-7DFB-BED0-F7F6-328162912226}"/>
              </a:ext>
            </a:extLst>
          </p:cNvPr>
          <p:cNvSpPr>
            <a:spLocks noGrp="1"/>
          </p:cNvSpPr>
          <p:nvPr>
            <p:ph type="body" idx="1"/>
          </p:nvPr>
        </p:nvSpPr>
        <p:spPr>
          <a:xfrm>
            <a:off x="838200" y="1431343"/>
            <a:ext cx="10515600" cy="4206060"/>
          </a:xfrm>
        </p:spPr>
        <p:txBody>
          <a:bodyPr/>
          <a:lstStyle/>
          <a:p>
            <a:pPr marL="114300" indent="0">
              <a:buNone/>
            </a:pPr>
            <a:r>
              <a:rPr lang="en-US" dirty="0"/>
              <a:t>The primary objective of this project is to analyze used-car resale listings from Cars24 to understand the key factors that influence vehicle resale prices across different Indian cities.</a:t>
            </a:r>
          </a:p>
          <a:p>
            <a:r>
              <a:rPr lang="en-US" dirty="0"/>
              <a:t>Specifically, this project aims to:</a:t>
            </a:r>
          </a:p>
          <a:p>
            <a:r>
              <a:rPr lang="en-US" dirty="0"/>
              <a:t>Study how vehicle age (year) and usage (km driven) impact resale value</a:t>
            </a:r>
          </a:p>
          <a:p>
            <a:r>
              <a:rPr lang="en-US" dirty="0"/>
              <a:t>Analyze the effect of fuel type and transmission on pricing</a:t>
            </a:r>
          </a:p>
          <a:p>
            <a:r>
              <a:rPr lang="en-US" dirty="0"/>
              <a:t>Compare city-wise pricing patterns in the used-car market</a:t>
            </a:r>
          </a:p>
          <a:p>
            <a:pPr marL="114300" indent="0">
              <a:buNone/>
            </a:pPr>
            <a:endParaRPr lang="en-US" dirty="0"/>
          </a:p>
        </p:txBody>
      </p:sp>
    </p:spTree>
    <p:extLst>
      <p:ext uri="{BB962C8B-B14F-4D97-AF65-F5344CB8AC3E}">
        <p14:creationId xmlns:p14="http://schemas.microsoft.com/office/powerpoint/2010/main" val="1114237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62031-1738-CB8D-2031-D6219E4A2182}"/>
              </a:ext>
            </a:extLst>
          </p:cNvPr>
          <p:cNvSpPr>
            <a:spLocks noGrp="1"/>
          </p:cNvSpPr>
          <p:nvPr>
            <p:ph type="title"/>
          </p:nvPr>
        </p:nvSpPr>
        <p:spPr>
          <a:xfrm>
            <a:off x="838200" y="205328"/>
            <a:ext cx="3515686" cy="893224"/>
          </a:xfrm>
        </p:spPr>
        <p:txBody>
          <a:bodyPr/>
          <a:lstStyle/>
          <a:p>
            <a:r>
              <a:rPr lang="en-US" dirty="0">
                <a:solidFill>
                  <a:srgbClr val="FF0000"/>
                </a:solidFill>
              </a:rPr>
              <a:t>Web Scraping</a:t>
            </a:r>
          </a:p>
        </p:txBody>
      </p:sp>
      <p:sp>
        <p:nvSpPr>
          <p:cNvPr id="3" name="Text Placeholder 2">
            <a:extLst>
              <a:ext uri="{FF2B5EF4-FFF2-40B4-BE49-F238E27FC236}">
                <a16:creationId xmlns:a16="http://schemas.microsoft.com/office/drawing/2014/main" id="{95454074-AB56-EB28-BED3-F7DD3F2891C6}"/>
              </a:ext>
            </a:extLst>
          </p:cNvPr>
          <p:cNvSpPr>
            <a:spLocks noGrp="1"/>
          </p:cNvSpPr>
          <p:nvPr>
            <p:ph type="body" idx="1"/>
          </p:nvPr>
        </p:nvSpPr>
        <p:spPr>
          <a:xfrm>
            <a:off x="838200" y="1207812"/>
            <a:ext cx="10515600" cy="5279851"/>
          </a:xfrm>
        </p:spPr>
        <p:txBody>
          <a:bodyPr/>
          <a:lstStyle/>
          <a:p>
            <a:pPr marL="114300" indent="0">
              <a:buNone/>
            </a:pPr>
            <a:r>
              <a:rPr lang="en-US" sz="2400" dirty="0"/>
              <a:t>We collected the data from the </a:t>
            </a:r>
            <a:r>
              <a:rPr lang="en-US" sz="2400" b="1" dirty="0"/>
              <a:t>Cars24 website</a:t>
            </a:r>
            <a:r>
              <a:rPr lang="en-US" sz="2400" dirty="0"/>
              <a:t>, which is an online platform for buying and selling used cars.</a:t>
            </a:r>
          </a:p>
          <a:p>
            <a:pPr marL="114300" indent="0">
              <a:buNone/>
            </a:pPr>
            <a:r>
              <a:rPr lang="en-US" sz="2400" dirty="0"/>
              <a:t>Since Cars24 shows car listings based on location, we used city-wise links to extract the data.</a:t>
            </a:r>
            <a:br>
              <a:rPr lang="en-US" sz="2400" dirty="0"/>
            </a:br>
            <a:r>
              <a:rPr lang="en-US" sz="2400" dirty="0"/>
              <a:t>The data was collected from cities such as Delhi, Mumbai, Pune, Hyderabad, Bangalore, Chennai, and other major cities.</a:t>
            </a:r>
          </a:p>
          <a:p>
            <a:pPr marL="114300" indent="0">
              <a:buNone/>
            </a:pPr>
            <a:r>
              <a:rPr lang="en-US" sz="2400" dirty="0"/>
              <a:t>The scraping process was carried out using Python along with the Requests library to send HTTP requests and fetch webpage content. The HTML pages were then parsed using </a:t>
            </a:r>
            <a:r>
              <a:rPr lang="en-US" sz="2400" b="1" dirty="0"/>
              <a:t>Beautiful Soup</a:t>
            </a:r>
            <a:r>
              <a:rPr lang="en-US" sz="2400" dirty="0"/>
              <a:t> to locate and extract car listing details. The extracted data was stored and processed using </a:t>
            </a:r>
            <a:r>
              <a:rPr lang="en-US" sz="2400" b="1" dirty="0"/>
              <a:t>Pandas</a:t>
            </a:r>
            <a:r>
              <a:rPr lang="en-US" sz="2400" dirty="0"/>
              <a:t>.</a:t>
            </a:r>
          </a:p>
          <a:p>
            <a:pPr marL="114300" indent="0">
              <a:buNone/>
            </a:pPr>
            <a:r>
              <a:rPr lang="en-US" sz="2400" dirty="0"/>
              <a:t>For each city-specific link, multiple pages were accessed using pagination to collect more listings. The main car listing card was identified on the webpage, and required information for each car was extracted from it. This process was repeated for different cities to ensure data diversity and a larger dataset.</a:t>
            </a:r>
          </a:p>
          <a:p>
            <a:pPr marL="114300" indent="0">
              <a:buNone/>
            </a:pPr>
            <a:endParaRPr lang="en-US" sz="2400" dirty="0"/>
          </a:p>
          <a:p>
            <a:pPr marL="114300" indent="0">
              <a:buNone/>
            </a:pPr>
            <a:endParaRPr lang="en-US" dirty="0"/>
          </a:p>
        </p:txBody>
      </p:sp>
    </p:spTree>
    <p:extLst>
      <p:ext uri="{BB962C8B-B14F-4D97-AF65-F5344CB8AC3E}">
        <p14:creationId xmlns:p14="http://schemas.microsoft.com/office/powerpoint/2010/main" val="4040360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01E71-B335-EF75-1BEC-F7C3AE00BAA3}"/>
              </a:ext>
            </a:extLst>
          </p:cNvPr>
          <p:cNvSpPr>
            <a:spLocks noGrp="1"/>
          </p:cNvSpPr>
          <p:nvPr>
            <p:ph type="title"/>
          </p:nvPr>
        </p:nvSpPr>
        <p:spPr>
          <a:xfrm>
            <a:off x="662731" y="163790"/>
            <a:ext cx="10897298" cy="826112"/>
          </a:xfrm>
        </p:spPr>
        <p:txBody>
          <a:bodyPr/>
          <a:lstStyle/>
          <a:p>
            <a:r>
              <a:rPr lang="en-US" dirty="0">
                <a:solidFill>
                  <a:srgbClr val="FF0000"/>
                </a:solidFill>
              </a:rPr>
              <a:t>Summary of Data </a:t>
            </a:r>
          </a:p>
        </p:txBody>
      </p:sp>
      <p:sp>
        <p:nvSpPr>
          <p:cNvPr id="3" name="Text Placeholder 2">
            <a:extLst>
              <a:ext uri="{FF2B5EF4-FFF2-40B4-BE49-F238E27FC236}">
                <a16:creationId xmlns:a16="http://schemas.microsoft.com/office/drawing/2014/main" id="{5756FC71-941D-FE8D-ACAF-57E535187D65}"/>
              </a:ext>
            </a:extLst>
          </p:cNvPr>
          <p:cNvSpPr>
            <a:spLocks noGrp="1"/>
          </p:cNvSpPr>
          <p:nvPr>
            <p:ph type="body" idx="1"/>
          </p:nvPr>
        </p:nvSpPr>
        <p:spPr>
          <a:xfrm>
            <a:off x="662731" y="1120950"/>
            <a:ext cx="10897298" cy="5179182"/>
          </a:xfrm>
        </p:spPr>
        <p:txBody>
          <a:bodyPr/>
          <a:lstStyle/>
          <a:p>
            <a:pPr marL="114300" indent="0">
              <a:buNone/>
            </a:pPr>
            <a:r>
              <a:rPr lang="en-US" sz="2400" dirty="0"/>
              <a:t>After scraping used-car listings from </a:t>
            </a:r>
            <a:r>
              <a:rPr lang="en-US" sz="2400" b="1" dirty="0"/>
              <a:t>Cars24</a:t>
            </a:r>
            <a:r>
              <a:rPr lang="en-US" sz="2400" dirty="0"/>
              <a:t> across multiple Indian cities, the extracted data was consolidated into a single dataset containing approximately 1,800 records, with each row representing one used-car listing.</a:t>
            </a:r>
          </a:p>
          <a:p>
            <a:r>
              <a:rPr lang="en-US" sz="2400" dirty="0"/>
              <a:t>The final dataset includes the following core analytical columns:</a:t>
            </a:r>
          </a:p>
          <a:p>
            <a:r>
              <a:rPr lang="en-US" sz="2400" b="1" dirty="0"/>
              <a:t>Target variables:</a:t>
            </a:r>
            <a:br>
              <a:rPr lang="en-US" sz="2400" dirty="0"/>
            </a:br>
            <a:r>
              <a:rPr lang="en-US" dirty="0"/>
              <a:t>price</a:t>
            </a:r>
            <a:r>
              <a:rPr lang="en-US" sz="2400" dirty="0"/>
              <a:t>, </a:t>
            </a:r>
            <a:r>
              <a:rPr lang="en-US" dirty="0" err="1"/>
              <a:t>final_price</a:t>
            </a:r>
            <a:endParaRPr lang="en-US" sz="2400" dirty="0"/>
          </a:p>
          <a:p>
            <a:r>
              <a:rPr lang="en-US" sz="2400" b="1" dirty="0"/>
              <a:t>Numerical features:</a:t>
            </a:r>
            <a:br>
              <a:rPr lang="en-US" sz="2400" dirty="0"/>
            </a:br>
            <a:r>
              <a:rPr lang="en-US" dirty="0"/>
              <a:t>year</a:t>
            </a:r>
            <a:r>
              <a:rPr lang="en-US" sz="2400" dirty="0"/>
              <a:t>, </a:t>
            </a:r>
            <a:r>
              <a:rPr lang="en-US" dirty="0" err="1"/>
              <a:t>km_driven</a:t>
            </a:r>
            <a:r>
              <a:rPr lang="en-US" sz="2400" dirty="0"/>
              <a:t>, </a:t>
            </a:r>
            <a:r>
              <a:rPr lang="en-US" dirty="0" err="1"/>
              <a:t>emi</a:t>
            </a:r>
            <a:endParaRPr lang="en-US" sz="2400" dirty="0"/>
          </a:p>
          <a:p>
            <a:r>
              <a:rPr lang="en-US" sz="2400" b="1" dirty="0"/>
              <a:t>Categorical features:</a:t>
            </a:r>
            <a:br>
              <a:rPr lang="en-US" sz="2400" dirty="0"/>
            </a:br>
            <a:r>
              <a:rPr lang="en-US" dirty="0"/>
              <a:t>city</a:t>
            </a:r>
            <a:r>
              <a:rPr lang="en-US" sz="2400" dirty="0"/>
              <a:t>, </a:t>
            </a:r>
            <a:r>
              <a:rPr lang="en-US" dirty="0"/>
              <a:t>brand</a:t>
            </a:r>
            <a:r>
              <a:rPr lang="en-US" sz="2400" dirty="0"/>
              <a:t>, </a:t>
            </a:r>
            <a:r>
              <a:rPr lang="en-US" dirty="0" err="1"/>
              <a:t>fuel_type</a:t>
            </a:r>
            <a:r>
              <a:rPr lang="en-US" sz="2400" dirty="0"/>
              <a:t>, </a:t>
            </a:r>
            <a:r>
              <a:rPr lang="en-US" dirty="0"/>
              <a:t>transmission</a:t>
            </a:r>
            <a:endParaRPr lang="en-US" sz="2400" dirty="0"/>
          </a:p>
          <a:p>
            <a:r>
              <a:rPr lang="en-US" sz="2400" dirty="0"/>
              <a:t>Other identifier-level columns (model, variant, registration number) were retained for reference but not used as primary analytical drivers.</a:t>
            </a:r>
          </a:p>
          <a:p>
            <a:pPr marL="114300" indent="0">
              <a:buNone/>
            </a:pPr>
            <a:endParaRPr lang="en-US" sz="2400" dirty="0"/>
          </a:p>
          <a:p>
            <a:pPr marL="114300" indent="0">
              <a:buNone/>
            </a:pPr>
            <a:endParaRPr lang="en-US" dirty="0"/>
          </a:p>
        </p:txBody>
      </p:sp>
    </p:spTree>
    <p:extLst>
      <p:ext uri="{BB962C8B-B14F-4D97-AF65-F5344CB8AC3E}">
        <p14:creationId xmlns:p14="http://schemas.microsoft.com/office/powerpoint/2010/main" val="1332477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0D1EE-834E-3044-9C6D-9DCC07BD888C}"/>
              </a:ext>
            </a:extLst>
          </p:cNvPr>
          <p:cNvSpPr>
            <a:spLocks noGrp="1"/>
          </p:cNvSpPr>
          <p:nvPr>
            <p:ph type="title"/>
          </p:nvPr>
        </p:nvSpPr>
        <p:spPr>
          <a:xfrm>
            <a:off x="838200" y="230902"/>
            <a:ext cx="10515600" cy="876445"/>
          </a:xfrm>
        </p:spPr>
        <p:txBody>
          <a:bodyPr>
            <a:normAutofit/>
          </a:bodyPr>
          <a:lstStyle/>
          <a:p>
            <a:r>
              <a:rPr lang="en-US" sz="4800" dirty="0">
                <a:solidFill>
                  <a:srgbClr val="FF0000"/>
                </a:solidFill>
              </a:rPr>
              <a:t>Exploratory Data Analysis</a:t>
            </a:r>
          </a:p>
        </p:txBody>
      </p:sp>
      <p:sp>
        <p:nvSpPr>
          <p:cNvPr id="3" name="Text Placeholder 2">
            <a:extLst>
              <a:ext uri="{FF2B5EF4-FFF2-40B4-BE49-F238E27FC236}">
                <a16:creationId xmlns:a16="http://schemas.microsoft.com/office/drawing/2014/main" id="{B0E3497C-0C9F-1BDB-03BD-409FE69E3AB3}"/>
              </a:ext>
            </a:extLst>
          </p:cNvPr>
          <p:cNvSpPr>
            <a:spLocks noGrp="1"/>
          </p:cNvSpPr>
          <p:nvPr>
            <p:ph type="body" idx="1"/>
          </p:nvPr>
        </p:nvSpPr>
        <p:spPr>
          <a:xfrm>
            <a:off x="838200" y="1246783"/>
            <a:ext cx="10515600" cy="5011403"/>
          </a:xfrm>
        </p:spPr>
        <p:txBody>
          <a:bodyPr>
            <a:normAutofit fontScale="77500" lnSpcReduction="20000"/>
          </a:bodyPr>
          <a:lstStyle/>
          <a:p>
            <a:pPr marL="114300" indent="0">
              <a:buNone/>
            </a:pPr>
            <a:r>
              <a:rPr lang="en-US" sz="3200" b="1" dirty="0">
                <a:solidFill>
                  <a:srgbClr val="FF0000"/>
                </a:solidFill>
              </a:rPr>
              <a:t>Data Cleaning &amp; Pre-Processing</a:t>
            </a:r>
            <a:endParaRPr lang="en-US" sz="3100" b="1" dirty="0">
              <a:solidFill>
                <a:srgbClr val="FF0000"/>
              </a:solidFill>
            </a:endParaRPr>
          </a:p>
          <a:p>
            <a:pPr marL="114300" indent="0">
              <a:buNone/>
            </a:pPr>
            <a:r>
              <a:rPr lang="en-US" sz="3100" b="1" dirty="0"/>
              <a:t>Missing Value Treatment</a:t>
            </a:r>
          </a:p>
          <a:p>
            <a:pPr marL="114300" indent="0">
              <a:buNone/>
            </a:pPr>
            <a:r>
              <a:rPr lang="en-US" dirty="0"/>
              <a:t>Numerical Columns</a:t>
            </a:r>
          </a:p>
          <a:p>
            <a:r>
              <a:rPr lang="en-US" b="1" dirty="0"/>
              <a:t>price</a:t>
            </a:r>
            <a:r>
              <a:rPr lang="en-US" dirty="0"/>
              <a:t> → Missing values replaced with median</a:t>
            </a:r>
          </a:p>
          <a:p>
            <a:r>
              <a:rPr lang="en-US" b="1" dirty="0" err="1"/>
              <a:t>final_price</a:t>
            </a:r>
            <a:r>
              <a:rPr lang="en-US" dirty="0"/>
              <a:t> → Missing values replaced with median</a:t>
            </a:r>
          </a:p>
          <a:p>
            <a:r>
              <a:rPr lang="en-US" b="1" dirty="0" err="1"/>
              <a:t>emi</a:t>
            </a:r>
            <a:r>
              <a:rPr lang="en-US" dirty="0"/>
              <a:t> → Converted to numeric and missing values replaced with median</a:t>
            </a:r>
          </a:p>
          <a:p>
            <a:r>
              <a:rPr lang="en-US" b="1" dirty="0" err="1"/>
              <a:t>km_driven</a:t>
            </a:r>
            <a:r>
              <a:rPr lang="en-US" dirty="0"/>
              <a:t> → Cleaned by removing non-numeric characters and converted to numeric</a:t>
            </a:r>
          </a:p>
          <a:p>
            <a:r>
              <a:rPr lang="en-US" dirty="0"/>
              <a:t>Median imputation was chosen over mean or mode to handle skewness and reduce the impact of outliers.</a:t>
            </a:r>
          </a:p>
          <a:p>
            <a:pPr marL="114300" indent="0">
              <a:buNone/>
            </a:pPr>
            <a:endParaRPr lang="en-US" b="1" dirty="0"/>
          </a:p>
          <a:p>
            <a:pPr marL="114300" indent="0">
              <a:buNone/>
            </a:pPr>
            <a:r>
              <a:rPr lang="en-US" b="1" dirty="0"/>
              <a:t>Categorical Columns</a:t>
            </a:r>
          </a:p>
          <a:p>
            <a:r>
              <a:rPr lang="en-US" b="1" dirty="0"/>
              <a:t>city</a:t>
            </a:r>
            <a:r>
              <a:rPr lang="en-US" dirty="0"/>
              <a:t>, </a:t>
            </a:r>
            <a:r>
              <a:rPr lang="en-US" b="1" dirty="0"/>
              <a:t>brand</a:t>
            </a:r>
            <a:r>
              <a:rPr lang="en-US" dirty="0"/>
              <a:t>, </a:t>
            </a:r>
            <a:r>
              <a:rPr lang="en-US" b="1" dirty="0" err="1"/>
              <a:t>fuel_type</a:t>
            </a:r>
            <a:r>
              <a:rPr lang="en-US" dirty="0"/>
              <a:t>, </a:t>
            </a:r>
            <a:r>
              <a:rPr lang="en-US" b="1" dirty="0"/>
              <a:t>transmission</a:t>
            </a:r>
            <a:endParaRPr lang="en-US" dirty="0"/>
          </a:p>
          <a:p>
            <a:r>
              <a:rPr lang="en-US" dirty="0"/>
              <a:t>Rows with missing values in these critical categorical columns were dropped, as they represented less than 5% of the dataset and could affect segmentation quality.</a:t>
            </a:r>
          </a:p>
        </p:txBody>
      </p:sp>
    </p:spTree>
    <p:extLst>
      <p:ext uri="{BB962C8B-B14F-4D97-AF65-F5344CB8AC3E}">
        <p14:creationId xmlns:p14="http://schemas.microsoft.com/office/powerpoint/2010/main" val="2893574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B8F96-DF3F-1A3A-98E0-877DA0B1D370}"/>
              </a:ext>
            </a:extLst>
          </p:cNvPr>
          <p:cNvSpPr>
            <a:spLocks noGrp="1"/>
          </p:cNvSpPr>
          <p:nvPr>
            <p:ph type="title"/>
          </p:nvPr>
        </p:nvSpPr>
        <p:spPr>
          <a:xfrm>
            <a:off x="838200" y="197346"/>
            <a:ext cx="10515600" cy="759000"/>
          </a:xfrm>
        </p:spPr>
        <p:txBody>
          <a:bodyPr/>
          <a:lstStyle/>
          <a:p>
            <a:r>
              <a:rPr lang="en-US" dirty="0">
                <a:solidFill>
                  <a:srgbClr val="FF0000"/>
                </a:solidFill>
              </a:rPr>
              <a:t>Data Manipulation Steps</a:t>
            </a:r>
          </a:p>
        </p:txBody>
      </p:sp>
      <p:sp>
        <p:nvSpPr>
          <p:cNvPr id="3" name="Text Placeholder 2">
            <a:extLst>
              <a:ext uri="{FF2B5EF4-FFF2-40B4-BE49-F238E27FC236}">
                <a16:creationId xmlns:a16="http://schemas.microsoft.com/office/drawing/2014/main" id="{F259DBA4-FB14-8175-2252-46AED839259C}"/>
              </a:ext>
            </a:extLst>
          </p:cNvPr>
          <p:cNvSpPr>
            <a:spLocks noGrp="1"/>
          </p:cNvSpPr>
          <p:nvPr>
            <p:ph type="body" idx="1"/>
          </p:nvPr>
        </p:nvSpPr>
        <p:spPr>
          <a:xfrm>
            <a:off x="613795" y="1031847"/>
            <a:ext cx="10964410" cy="5243118"/>
          </a:xfrm>
        </p:spPr>
        <p:txBody>
          <a:bodyPr>
            <a:normAutofit/>
          </a:bodyPr>
          <a:lstStyle/>
          <a:p>
            <a:pPr marL="114300" indent="0">
              <a:buNone/>
            </a:pPr>
            <a:r>
              <a:rPr lang="en-US" sz="2400" b="1" dirty="0"/>
              <a:t>Data Type Conversion</a:t>
            </a:r>
          </a:p>
          <a:p>
            <a:r>
              <a:rPr lang="en-US" sz="2400" dirty="0"/>
              <a:t>Converted numerical fields (price, </a:t>
            </a:r>
            <a:r>
              <a:rPr lang="en-US" sz="2400" dirty="0" err="1"/>
              <a:t>final_price</a:t>
            </a:r>
            <a:r>
              <a:rPr lang="en-US" sz="2400" dirty="0"/>
              <a:t>, </a:t>
            </a:r>
            <a:r>
              <a:rPr lang="en-US" sz="2400" dirty="0" err="1"/>
              <a:t>emi</a:t>
            </a:r>
            <a:r>
              <a:rPr lang="en-US" sz="2400" dirty="0"/>
              <a:t>, </a:t>
            </a:r>
            <a:r>
              <a:rPr lang="en-US" sz="2400" dirty="0" err="1"/>
              <a:t>km_driven</a:t>
            </a:r>
            <a:r>
              <a:rPr lang="en-US" sz="2400" dirty="0"/>
              <a:t>, year) from text to numeric format.</a:t>
            </a:r>
          </a:p>
          <a:p>
            <a:r>
              <a:rPr lang="en-US" sz="2400" dirty="0"/>
              <a:t>Ensured consistent data types across all analytical columns.</a:t>
            </a:r>
          </a:p>
          <a:p>
            <a:pPr marL="114300" indent="0">
              <a:buNone/>
            </a:pPr>
            <a:r>
              <a:rPr lang="en-US" sz="2400" b="1" dirty="0"/>
              <a:t>Text &amp; Symbol Cleaning</a:t>
            </a:r>
          </a:p>
          <a:p>
            <a:r>
              <a:rPr lang="en-US" sz="2400" dirty="0"/>
              <a:t>Removed currency symbols (₹) and commas from price-related columns.</a:t>
            </a:r>
          </a:p>
          <a:p>
            <a:r>
              <a:rPr lang="en-US" sz="2400" dirty="0"/>
              <a:t>Removed textual units such as L, lakh, k, and km.</a:t>
            </a:r>
          </a:p>
          <a:p>
            <a:r>
              <a:rPr lang="en-US" sz="2400" dirty="0"/>
              <a:t>Trimmed extra spaces and standardized text formatting.</a:t>
            </a:r>
          </a:p>
          <a:p>
            <a:pPr marL="114300" indent="0">
              <a:buNone/>
            </a:pPr>
            <a:endParaRPr lang="en-US" sz="2400" dirty="0"/>
          </a:p>
          <a:p>
            <a:pPr marL="114300" indent="0">
              <a:buNone/>
            </a:pPr>
            <a:r>
              <a:rPr lang="en-US" sz="2400" dirty="0"/>
              <a:t>The dataset is now clean, consistent, and well-structured after removing errors and standardizing values. It is fully prepared for exploratory data analysis (EDA), high-quality visualizations, enabling accurate insights and data-driven decision-making.</a:t>
            </a:r>
          </a:p>
        </p:txBody>
      </p:sp>
    </p:spTree>
    <p:extLst>
      <p:ext uri="{BB962C8B-B14F-4D97-AF65-F5344CB8AC3E}">
        <p14:creationId xmlns:p14="http://schemas.microsoft.com/office/powerpoint/2010/main" val="3195279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57E39-F9FF-93E9-3669-8FB640765360}"/>
              </a:ext>
            </a:extLst>
          </p:cNvPr>
          <p:cNvSpPr>
            <a:spLocks noGrp="1"/>
          </p:cNvSpPr>
          <p:nvPr>
            <p:ph type="title"/>
          </p:nvPr>
        </p:nvSpPr>
        <p:spPr>
          <a:xfrm>
            <a:off x="685101" y="149007"/>
            <a:ext cx="4916648" cy="800945"/>
          </a:xfrm>
        </p:spPr>
        <p:txBody>
          <a:bodyPr>
            <a:normAutofit/>
          </a:bodyPr>
          <a:lstStyle/>
          <a:p>
            <a:r>
              <a:rPr lang="en-US" sz="4800" dirty="0">
                <a:solidFill>
                  <a:srgbClr val="FF0000"/>
                </a:solidFill>
              </a:rPr>
              <a:t>Univariate Analysis</a:t>
            </a:r>
          </a:p>
        </p:txBody>
      </p:sp>
      <p:pic>
        <p:nvPicPr>
          <p:cNvPr id="5" name="Picture 4">
            <a:extLst>
              <a:ext uri="{FF2B5EF4-FFF2-40B4-BE49-F238E27FC236}">
                <a16:creationId xmlns:a16="http://schemas.microsoft.com/office/drawing/2014/main" id="{4B0072B8-27B5-B0CD-B7CD-A4FFF826AC9F}"/>
              </a:ext>
            </a:extLst>
          </p:cNvPr>
          <p:cNvPicPr>
            <a:picLocks noChangeAspect="1"/>
          </p:cNvPicPr>
          <p:nvPr/>
        </p:nvPicPr>
        <p:blipFill>
          <a:blip r:embed="rId2"/>
          <a:srcRect r="11261"/>
          <a:stretch>
            <a:fillRect/>
          </a:stretch>
        </p:blipFill>
        <p:spPr>
          <a:xfrm>
            <a:off x="64377" y="891229"/>
            <a:ext cx="3995896" cy="4939120"/>
          </a:xfrm>
          <a:prstGeom prst="rect">
            <a:avLst/>
          </a:prstGeom>
        </p:spPr>
      </p:pic>
      <p:pic>
        <p:nvPicPr>
          <p:cNvPr id="7" name="Picture 6">
            <a:extLst>
              <a:ext uri="{FF2B5EF4-FFF2-40B4-BE49-F238E27FC236}">
                <a16:creationId xmlns:a16="http://schemas.microsoft.com/office/drawing/2014/main" id="{C7905BC4-35D6-D07F-1E9F-08B2F9A39C8C}"/>
              </a:ext>
            </a:extLst>
          </p:cNvPr>
          <p:cNvPicPr>
            <a:picLocks noChangeAspect="1"/>
          </p:cNvPicPr>
          <p:nvPr/>
        </p:nvPicPr>
        <p:blipFill>
          <a:blip r:embed="rId3"/>
          <a:srcRect r="16572"/>
          <a:stretch>
            <a:fillRect/>
          </a:stretch>
        </p:blipFill>
        <p:spPr>
          <a:xfrm>
            <a:off x="3985130" y="818853"/>
            <a:ext cx="3995896" cy="4502892"/>
          </a:xfrm>
          <a:prstGeom prst="rect">
            <a:avLst/>
          </a:prstGeom>
        </p:spPr>
      </p:pic>
      <p:pic>
        <p:nvPicPr>
          <p:cNvPr id="9" name="Picture 8">
            <a:extLst>
              <a:ext uri="{FF2B5EF4-FFF2-40B4-BE49-F238E27FC236}">
                <a16:creationId xmlns:a16="http://schemas.microsoft.com/office/drawing/2014/main" id="{BF024367-1BE1-5F2F-D116-C6D3461E640E}"/>
              </a:ext>
            </a:extLst>
          </p:cNvPr>
          <p:cNvPicPr>
            <a:picLocks noChangeAspect="1"/>
          </p:cNvPicPr>
          <p:nvPr/>
        </p:nvPicPr>
        <p:blipFill>
          <a:blip r:embed="rId4"/>
          <a:srcRect l="1593" t="1260" r="11275" b="3524"/>
          <a:stretch>
            <a:fillRect/>
          </a:stretch>
        </p:blipFill>
        <p:spPr>
          <a:xfrm>
            <a:off x="8051232" y="149007"/>
            <a:ext cx="3884103" cy="2921292"/>
          </a:xfrm>
          <a:prstGeom prst="rect">
            <a:avLst/>
          </a:prstGeom>
        </p:spPr>
      </p:pic>
      <p:pic>
        <p:nvPicPr>
          <p:cNvPr id="11" name="Picture 10">
            <a:extLst>
              <a:ext uri="{FF2B5EF4-FFF2-40B4-BE49-F238E27FC236}">
                <a16:creationId xmlns:a16="http://schemas.microsoft.com/office/drawing/2014/main" id="{EC0F5FA3-8E0A-0339-0F97-61474D5B73C5}"/>
              </a:ext>
            </a:extLst>
          </p:cNvPr>
          <p:cNvPicPr>
            <a:picLocks noChangeAspect="1"/>
          </p:cNvPicPr>
          <p:nvPr/>
        </p:nvPicPr>
        <p:blipFill>
          <a:blip r:embed="rId5"/>
          <a:srcRect l="2747" t="1120" r="2747" b="642"/>
          <a:stretch>
            <a:fillRect/>
          </a:stretch>
        </p:blipFill>
        <p:spPr>
          <a:xfrm>
            <a:off x="8263155" y="3145800"/>
            <a:ext cx="3496871" cy="3103998"/>
          </a:xfrm>
          <a:prstGeom prst="rect">
            <a:avLst/>
          </a:prstGeom>
        </p:spPr>
      </p:pic>
    </p:spTree>
    <p:extLst>
      <p:ext uri="{BB962C8B-B14F-4D97-AF65-F5344CB8AC3E}">
        <p14:creationId xmlns:p14="http://schemas.microsoft.com/office/powerpoint/2010/main" val="866253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18C62-B7A7-F8D7-50A9-4E049E48662D}"/>
              </a:ext>
            </a:extLst>
          </p:cNvPr>
          <p:cNvSpPr>
            <a:spLocks noGrp="1"/>
          </p:cNvSpPr>
          <p:nvPr>
            <p:ph type="title"/>
          </p:nvPr>
        </p:nvSpPr>
        <p:spPr>
          <a:xfrm>
            <a:off x="201336" y="163789"/>
            <a:ext cx="4648200" cy="784167"/>
          </a:xfrm>
        </p:spPr>
        <p:txBody>
          <a:bodyPr/>
          <a:lstStyle/>
          <a:p>
            <a:r>
              <a:rPr lang="en-US" dirty="0">
                <a:solidFill>
                  <a:srgbClr val="FF0000"/>
                </a:solidFill>
              </a:rPr>
              <a:t>Univariate Analysis</a:t>
            </a:r>
            <a:endParaRPr lang="en-US" dirty="0"/>
          </a:p>
        </p:txBody>
      </p:sp>
      <p:pic>
        <p:nvPicPr>
          <p:cNvPr id="5" name="Picture 4">
            <a:extLst>
              <a:ext uri="{FF2B5EF4-FFF2-40B4-BE49-F238E27FC236}">
                <a16:creationId xmlns:a16="http://schemas.microsoft.com/office/drawing/2014/main" id="{0AD3FE12-21BA-D78A-68B6-37884813F9DD}"/>
              </a:ext>
            </a:extLst>
          </p:cNvPr>
          <p:cNvPicPr>
            <a:picLocks noChangeAspect="1"/>
          </p:cNvPicPr>
          <p:nvPr/>
        </p:nvPicPr>
        <p:blipFill>
          <a:blip r:embed="rId2"/>
          <a:srcRect l="40" t="1951" r="14386" b="9419"/>
          <a:stretch>
            <a:fillRect/>
          </a:stretch>
        </p:blipFill>
        <p:spPr>
          <a:xfrm>
            <a:off x="5235430" y="3701305"/>
            <a:ext cx="4110605" cy="2932221"/>
          </a:xfrm>
          <a:prstGeom prst="rect">
            <a:avLst/>
          </a:prstGeom>
        </p:spPr>
      </p:pic>
      <p:pic>
        <p:nvPicPr>
          <p:cNvPr id="7" name="Picture 6">
            <a:extLst>
              <a:ext uri="{FF2B5EF4-FFF2-40B4-BE49-F238E27FC236}">
                <a16:creationId xmlns:a16="http://schemas.microsoft.com/office/drawing/2014/main" id="{BA90845E-F100-6121-5FCD-28FDADF2EFF0}"/>
              </a:ext>
            </a:extLst>
          </p:cNvPr>
          <p:cNvPicPr>
            <a:picLocks noChangeAspect="1"/>
          </p:cNvPicPr>
          <p:nvPr/>
        </p:nvPicPr>
        <p:blipFill>
          <a:blip r:embed="rId3"/>
          <a:srcRect t="1814" r="14229" b="2893"/>
          <a:stretch>
            <a:fillRect/>
          </a:stretch>
        </p:blipFill>
        <p:spPr>
          <a:xfrm>
            <a:off x="285926" y="823170"/>
            <a:ext cx="4949504" cy="4210224"/>
          </a:xfrm>
          <a:prstGeom prst="rect">
            <a:avLst/>
          </a:prstGeom>
        </p:spPr>
      </p:pic>
      <p:pic>
        <p:nvPicPr>
          <p:cNvPr id="9" name="Picture 8">
            <a:extLst>
              <a:ext uri="{FF2B5EF4-FFF2-40B4-BE49-F238E27FC236}">
                <a16:creationId xmlns:a16="http://schemas.microsoft.com/office/drawing/2014/main" id="{FEF3C053-66A6-D449-608B-BCE3F1E5DD18}"/>
              </a:ext>
            </a:extLst>
          </p:cNvPr>
          <p:cNvPicPr>
            <a:picLocks noChangeAspect="1"/>
          </p:cNvPicPr>
          <p:nvPr/>
        </p:nvPicPr>
        <p:blipFill>
          <a:blip r:embed="rId4"/>
          <a:srcRect l="2572" t="2336" r="24727" b="3112"/>
          <a:stretch>
            <a:fillRect/>
          </a:stretch>
        </p:blipFill>
        <p:spPr>
          <a:xfrm>
            <a:off x="5461233" y="0"/>
            <a:ext cx="5821960" cy="3701305"/>
          </a:xfrm>
          <a:prstGeom prst="rect">
            <a:avLst/>
          </a:prstGeom>
        </p:spPr>
      </p:pic>
    </p:spTree>
    <p:extLst>
      <p:ext uri="{BB962C8B-B14F-4D97-AF65-F5344CB8AC3E}">
        <p14:creationId xmlns:p14="http://schemas.microsoft.com/office/powerpoint/2010/main" val="9137237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DEB0C-D70C-5912-0BF7-19E78F21E786}"/>
              </a:ext>
            </a:extLst>
          </p:cNvPr>
          <p:cNvSpPr>
            <a:spLocks noGrp="1"/>
          </p:cNvSpPr>
          <p:nvPr>
            <p:ph type="title"/>
          </p:nvPr>
        </p:nvSpPr>
        <p:spPr>
          <a:xfrm>
            <a:off x="276138" y="167313"/>
            <a:ext cx="4430086" cy="763865"/>
          </a:xfrm>
        </p:spPr>
        <p:txBody>
          <a:bodyPr/>
          <a:lstStyle/>
          <a:p>
            <a:r>
              <a:rPr lang="en-US" dirty="0">
                <a:solidFill>
                  <a:srgbClr val="FF0000"/>
                </a:solidFill>
              </a:rPr>
              <a:t>BI-Variate Analysis</a:t>
            </a:r>
          </a:p>
        </p:txBody>
      </p:sp>
      <p:pic>
        <p:nvPicPr>
          <p:cNvPr id="5" name="Picture 4">
            <a:extLst>
              <a:ext uri="{FF2B5EF4-FFF2-40B4-BE49-F238E27FC236}">
                <a16:creationId xmlns:a16="http://schemas.microsoft.com/office/drawing/2014/main" id="{5E82EE02-E6FD-3786-958F-34C98581189E}"/>
              </a:ext>
            </a:extLst>
          </p:cNvPr>
          <p:cNvPicPr>
            <a:picLocks noChangeAspect="1"/>
          </p:cNvPicPr>
          <p:nvPr/>
        </p:nvPicPr>
        <p:blipFill>
          <a:blip r:embed="rId2"/>
          <a:stretch>
            <a:fillRect/>
          </a:stretch>
        </p:blipFill>
        <p:spPr>
          <a:xfrm>
            <a:off x="75026" y="912301"/>
            <a:ext cx="6920918" cy="4824265"/>
          </a:xfrm>
          <a:prstGeom prst="rect">
            <a:avLst/>
          </a:prstGeom>
        </p:spPr>
      </p:pic>
      <p:pic>
        <p:nvPicPr>
          <p:cNvPr id="7" name="Picture 6">
            <a:extLst>
              <a:ext uri="{FF2B5EF4-FFF2-40B4-BE49-F238E27FC236}">
                <a16:creationId xmlns:a16="http://schemas.microsoft.com/office/drawing/2014/main" id="{166B7518-1C56-A031-DAD8-079A891E67B5}"/>
              </a:ext>
            </a:extLst>
          </p:cNvPr>
          <p:cNvPicPr>
            <a:picLocks noChangeAspect="1"/>
          </p:cNvPicPr>
          <p:nvPr/>
        </p:nvPicPr>
        <p:blipFill>
          <a:blip r:embed="rId3"/>
          <a:stretch>
            <a:fillRect/>
          </a:stretch>
        </p:blipFill>
        <p:spPr>
          <a:xfrm>
            <a:off x="7100357" y="912301"/>
            <a:ext cx="5016617" cy="4689446"/>
          </a:xfrm>
          <a:prstGeom prst="rect">
            <a:avLst/>
          </a:prstGeom>
        </p:spPr>
      </p:pic>
    </p:spTree>
    <p:extLst>
      <p:ext uri="{BB962C8B-B14F-4D97-AF65-F5344CB8AC3E}">
        <p14:creationId xmlns:p14="http://schemas.microsoft.com/office/powerpoint/2010/main" val="22696072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9F05CF6-5A4D-F571-5ED0-F6180466F7E2}"/>
              </a:ext>
            </a:extLst>
          </p:cNvPr>
          <p:cNvPicPr>
            <a:picLocks noChangeAspect="1"/>
          </p:cNvPicPr>
          <p:nvPr/>
        </p:nvPicPr>
        <p:blipFill>
          <a:blip r:embed="rId2"/>
          <a:stretch>
            <a:fillRect/>
          </a:stretch>
        </p:blipFill>
        <p:spPr>
          <a:xfrm>
            <a:off x="0" y="1258349"/>
            <a:ext cx="7090913" cy="4643303"/>
          </a:xfrm>
          <a:prstGeom prst="rect">
            <a:avLst/>
          </a:prstGeom>
        </p:spPr>
      </p:pic>
      <p:pic>
        <p:nvPicPr>
          <p:cNvPr id="13" name="Picture 12">
            <a:extLst>
              <a:ext uri="{FF2B5EF4-FFF2-40B4-BE49-F238E27FC236}">
                <a16:creationId xmlns:a16="http://schemas.microsoft.com/office/drawing/2014/main" id="{0D01EB05-F8DA-9052-B889-8A6F0CF3FC18}"/>
              </a:ext>
            </a:extLst>
          </p:cNvPr>
          <p:cNvPicPr>
            <a:picLocks noChangeAspect="1"/>
          </p:cNvPicPr>
          <p:nvPr/>
        </p:nvPicPr>
        <p:blipFill>
          <a:blip r:embed="rId3"/>
          <a:srcRect l="1367" t="2897"/>
          <a:stretch>
            <a:fillRect/>
          </a:stretch>
        </p:blipFill>
        <p:spPr>
          <a:xfrm>
            <a:off x="7116080" y="1359017"/>
            <a:ext cx="5000908" cy="4454551"/>
          </a:xfrm>
          <a:prstGeom prst="rect">
            <a:avLst/>
          </a:prstGeom>
        </p:spPr>
      </p:pic>
      <p:sp>
        <p:nvSpPr>
          <p:cNvPr id="14" name="TextBox 13">
            <a:extLst>
              <a:ext uri="{FF2B5EF4-FFF2-40B4-BE49-F238E27FC236}">
                <a16:creationId xmlns:a16="http://schemas.microsoft.com/office/drawing/2014/main" id="{CE284FC2-CDE0-A45D-7B21-C265A8390B2C}"/>
              </a:ext>
            </a:extLst>
          </p:cNvPr>
          <p:cNvSpPr txBox="1"/>
          <p:nvPr/>
        </p:nvSpPr>
        <p:spPr>
          <a:xfrm>
            <a:off x="394282" y="327171"/>
            <a:ext cx="4177718" cy="646331"/>
          </a:xfrm>
          <a:prstGeom prst="rect">
            <a:avLst/>
          </a:prstGeom>
          <a:noFill/>
        </p:spPr>
        <p:txBody>
          <a:bodyPr wrap="square" rtlCol="0">
            <a:spAutoFit/>
          </a:bodyPr>
          <a:lstStyle/>
          <a:p>
            <a:r>
              <a:rPr lang="en-US" sz="3600" dirty="0">
                <a:solidFill>
                  <a:srgbClr val="FF0000"/>
                </a:solidFill>
              </a:rPr>
              <a:t>BI-Variate Analysis</a:t>
            </a:r>
          </a:p>
        </p:txBody>
      </p:sp>
    </p:spTree>
    <p:extLst>
      <p:ext uri="{BB962C8B-B14F-4D97-AF65-F5344CB8AC3E}">
        <p14:creationId xmlns:p14="http://schemas.microsoft.com/office/powerpoint/2010/main" val="28799816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2EAEB33-98A5-F05E-924E-0E50557A144A}"/>
              </a:ext>
            </a:extLst>
          </p:cNvPr>
          <p:cNvPicPr>
            <a:picLocks noChangeAspect="1"/>
          </p:cNvPicPr>
          <p:nvPr/>
        </p:nvPicPr>
        <p:blipFill>
          <a:blip r:embed="rId2"/>
          <a:stretch>
            <a:fillRect/>
          </a:stretch>
        </p:blipFill>
        <p:spPr>
          <a:xfrm>
            <a:off x="134224" y="1560352"/>
            <a:ext cx="7457814" cy="4496499"/>
          </a:xfrm>
          <a:prstGeom prst="rect">
            <a:avLst/>
          </a:prstGeom>
        </p:spPr>
      </p:pic>
      <p:pic>
        <p:nvPicPr>
          <p:cNvPr id="11" name="Picture 10">
            <a:extLst>
              <a:ext uri="{FF2B5EF4-FFF2-40B4-BE49-F238E27FC236}">
                <a16:creationId xmlns:a16="http://schemas.microsoft.com/office/drawing/2014/main" id="{56D8295C-E3BF-F8F9-1EB4-08065499ED94}"/>
              </a:ext>
            </a:extLst>
          </p:cNvPr>
          <p:cNvPicPr>
            <a:picLocks noChangeAspect="1"/>
          </p:cNvPicPr>
          <p:nvPr/>
        </p:nvPicPr>
        <p:blipFill>
          <a:blip r:embed="rId3"/>
          <a:stretch>
            <a:fillRect/>
          </a:stretch>
        </p:blipFill>
        <p:spPr>
          <a:xfrm>
            <a:off x="7592038" y="1644244"/>
            <a:ext cx="4538443" cy="4237886"/>
          </a:xfrm>
          <a:prstGeom prst="rect">
            <a:avLst/>
          </a:prstGeom>
        </p:spPr>
      </p:pic>
      <p:sp>
        <p:nvSpPr>
          <p:cNvPr id="12" name="TextBox 11">
            <a:extLst>
              <a:ext uri="{FF2B5EF4-FFF2-40B4-BE49-F238E27FC236}">
                <a16:creationId xmlns:a16="http://schemas.microsoft.com/office/drawing/2014/main" id="{7C2CEFFB-95E3-6474-0D3F-0A880506B27C}"/>
              </a:ext>
            </a:extLst>
          </p:cNvPr>
          <p:cNvSpPr txBox="1"/>
          <p:nvPr/>
        </p:nvSpPr>
        <p:spPr>
          <a:xfrm>
            <a:off x="494950" y="494950"/>
            <a:ext cx="4144162" cy="646331"/>
          </a:xfrm>
          <a:prstGeom prst="rect">
            <a:avLst/>
          </a:prstGeom>
          <a:noFill/>
        </p:spPr>
        <p:txBody>
          <a:bodyPr wrap="square" rtlCol="0">
            <a:spAutoFit/>
          </a:bodyPr>
          <a:lstStyle/>
          <a:p>
            <a:r>
              <a:rPr lang="en-US" sz="3600" dirty="0">
                <a:solidFill>
                  <a:srgbClr val="FF0000"/>
                </a:solidFill>
              </a:rPr>
              <a:t>BI-Variate analysis</a:t>
            </a:r>
          </a:p>
        </p:txBody>
      </p:sp>
    </p:spTree>
    <p:extLst>
      <p:ext uri="{BB962C8B-B14F-4D97-AF65-F5344CB8AC3E}">
        <p14:creationId xmlns:p14="http://schemas.microsoft.com/office/powerpoint/2010/main" val="23783516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4D15B4-1464-BBDB-BEEB-FFD337AE1508}"/>
              </a:ext>
            </a:extLst>
          </p:cNvPr>
          <p:cNvPicPr>
            <a:picLocks noChangeAspect="1"/>
          </p:cNvPicPr>
          <p:nvPr/>
        </p:nvPicPr>
        <p:blipFill>
          <a:blip r:embed="rId2"/>
          <a:srcRect l="894" r="1577"/>
          <a:stretch>
            <a:fillRect/>
          </a:stretch>
        </p:blipFill>
        <p:spPr>
          <a:xfrm>
            <a:off x="100669" y="1568741"/>
            <a:ext cx="7116562" cy="4697835"/>
          </a:xfrm>
          <a:prstGeom prst="rect">
            <a:avLst/>
          </a:prstGeom>
        </p:spPr>
      </p:pic>
      <p:pic>
        <p:nvPicPr>
          <p:cNvPr id="7" name="Picture 6">
            <a:extLst>
              <a:ext uri="{FF2B5EF4-FFF2-40B4-BE49-F238E27FC236}">
                <a16:creationId xmlns:a16="http://schemas.microsoft.com/office/drawing/2014/main" id="{0AF433D5-FB9D-0162-549B-4E372EAE838C}"/>
              </a:ext>
            </a:extLst>
          </p:cNvPr>
          <p:cNvPicPr>
            <a:picLocks noChangeAspect="1"/>
          </p:cNvPicPr>
          <p:nvPr/>
        </p:nvPicPr>
        <p:blipFill>
          <a:blip r:embed="rId3"/>
          <a:srcRect t="1757" r="1164"/>
          <a:stretch>
            <a:fillRect/>
          </a:stretch>
        </p:blipFill>
        <p:spPr>
          <a:xfrm>
            <a:off x="7292730" y="1333851"/>
            <a:ext cx="4737083" cy="4597167"/>
          </a:xfrm>
          <a:prstGeom prst="rect">
            <a:avLst/>
          </a:prstGeom>
        </p:spPr>
      </p:pic>
      <p:sp>
        <p:nvSpPr>
          <p:cNvPr id="10" name="TextBox 9">
            <a:extLst>
              <a:ext uri="{FF2B5EF4-FFF2-40B4-BE49-F238E27FC236}">
                <a16:creationId xmlns:a16="http://schemas.microsoft.com/office/drawing/2014/main" id="{DC3C1D32-7828-8EF2-D74B-AB05D6E26292}"/>
              </a:ext>
            </a:extLst>
          </p:cNvPr>
          <p:cNvSpPr txBox="1"/>
          <p:nvPr/>
        </p:nvSpPr>
        <p:spPr>
          <a:xfrm>
            <a:off x="595618" y="453005"/>
            <a:ext cx="4127384" cy="646331"/>
          </a:xfrm>
          <a:prstGeom prst="rect">
            <a:avLst/>
          </a:prstGeom>
          <a:noFill/>
        </p:spPr>
        <p:txBody>
          <a:bodyPr wrap="square" rtlCol="0">
            <a:spAutoFit/>
          </a:bodyPr>
          <a:lstStyle/>
          <a:p>
            <a:r>
              <a:rPr lang="en-US" sz="3600" dirty="0">
                <a:solidFill>
                  <a:srgbClr val="FF0000"/>
                </a:solidFill>
              </a:rPr>
              <a:t>BI-Variate Analysis</a:t>
            </a:r>
          </a:p>
        </p:txBody>
      </p:sp>
    </p:spTree>
    <p:extLst>
      <p:ext uri="{BB962C8B-B14F-4D97-AF65-F5344CB8AC3E}">
        <p14:creationId xmlns:p14="http://schemas.microsoft.com/office/powerpoint/2010/main" val="6460009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9EFDE56-8540-2882-7054-EF21CF7D7CAF}"/>
              </a:ext>
            </a:extLst>
          </p:cNvPr>
          <p:cNvPicPr>
            <a:picLocks noChangeAspect="1"/>
          </p:cNvPicPr>
          <p:nvPr/>
        </p:nvPicPr>
        <p:blipFill>
          <a:blip r:embed="rId2"/>
          <a:stretch>
            <a:fillRect/>
          </a:stretch>
        </p:blipFill>
        <p:spPr>
          <a:xfrm>
            <a:off x="67112" y="2708"/>
            <a:ext cx="10536572" cy="3408163"/>
          </a:xfrm>
          <a:prstGeom prst="rect">
            <a:avLst/>
          </a:prstGeom>
        </p:spPr>
      </p:pic>
      <p:pic>
        <p:nvPicPr>
          <p:cNvPr id="7" name="Picture 6">
            <a:extLst>
              <a:ext uri="{FF2B5EF4-FFF2-40B4-BE49-F238E27FC236}">
                <a16:creationId xmlns:a16="http://schemas.microsoft.com/office/drawing/2014/main" id="{9A155FA2-E691-A555-80DF-2D7053CAC0AF}"/>
              </a:ext>
            </a:extLst>
          </p:cNvPr>
          <p:cNvPicPr>
            <a:picLocks noChangeAspect="1"/>
          </p:cNvPicPr>
          <p:nvPr/>
        </p:nvPicPr>
        <p:blipFill>
          <a:blip r:embed="rId3"/>
          <a:srcRect l="1238" r="551"/>
          <a:stretch>
            <a:fillRect/>
          </a:stretch>
        </p:blipFill>
        <p:spPr>
          <a:xfrm>
            <a:off x="385893" y="3410871"/>
            <a:ext cx="8883941" cy="3486364"/>
          </a:xfrm>
          <a:prstGeom prst="rect">
            <a:avLst/>
          </a:prstGeom>
        </p:spPr>
      </p:pic>
    </p:spTree>
    <p:extLst>
      <p:ext uri="{BB962C8B-B14F-4D97-AF65-F5344CB8AC3E}">
        <p14:creationId xmlns:p14="http://schemas.microsoft.com/office/powerpoint/2010/main" val="28634598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21E815F-92AD-9493-0D68-4343D1CDC919}"/>
              </a:ext>
            </a:extLst>
          </p:cNvPr>
          <p:cNvPicPr>
            <a:picLocks noChangeAspect="1"/>
          </p:cNvPicPr>
          <p:nvPr/>
        </p:nvPicPr>
        <p:blipFill>
          <a:blip r:embed="rId2"/>
          <a:stretch>
            <a:fillRect/>
          </a:stretch>
        </p:blipFill>
        <p:spPr>
          <a:xfrm>
            <a:off x="162188" y="1744910"/>
            <a:ext cx="6196667" cy="4697835"/>
          </a:xfrm>
          <a:prstGeom prst="rect">
            <a:avLst/>
          </a:prstGeom>
        </p:spPr>
      </p:pic>
      <p:pic>
        <p:nvPicPr>
          <p:cNvPr id="7" name="Picture 6">
            <a:extLst>
              <a:ext uri="{FF2B5EF4-FFF2-40B4-BE49-F238E27FC236}">
                <a16:creationId xmlns:a16="http://schemas.microsoft.com/office/drawing/2014/main" id="{64351838-82E6-C028-70AB-CEFC59F79062}"/>
              </a:ext>
            </a:extLst>
          </p:cNvPr>
          <p:cNvPicPr>
            <a:picLocks noChangeAspect="1"/>
          </p:cNvPicPr>
          <p:nvPr/>
        </p:nvPicPr>
        <p:blipFill>
          <a:blip r:embed="rId3"/>
          <a:stretch>
            <a:fillRect/>
          </a:stretch>
        </p:blipFill>
        <p:spPr>
          <a:xfrm>
            <a:off x="6471573" y="1744910"/>
            <a:ext cx="5558239" cy="4454554"/>
          </a:xfrm>
          <a:prstGeom prst="rect">
            <a:avLst/>
          </a:prstGeom>
        </p:spPr>
      </p:pic>
      <p:sp>
        <p:nvSpPr>
          <p:cNvPr id="8" name="TextBox 7">
            <a:extLst>
              <a:ext uri="{FF2B5EF4-FFF2-40B4-BE49-F238E27FC236}">
                <a16:creationId xmlns:a16="http://schemas.microsoft.com/office/drawing/2014/main" id="{2837A7CA-B995-8248-4925-24D23D1CF32F}"/>
              </a:ext>
            </a:extLst>
          </p:cNvPr>
          <p:cNvSpPr txBox="1"/>
          <p:nvPr/>
        </p:nvSpPr>
        <p:spPr>
          <a:xfrm>
            <a:off x="478174" y="499144"/>
            <a:ext cx="5117284" cy="769441"/>
          </a:xfrm>
          <a:prstGeom prst="rect">
            <a:avLst/>
          </a:prstGeom>
          <a:noFill/>
        </p:spPr>
        <p:txBody>
          <a:bodyPr wrap="square" rtlCol="0">
            <a:spAutoFit/>
          </a:bodyPr>
          <a:lstStyle/>
          <a:p>
            <a:r>
              <a:rPr lang="en-US" sz="4400" dirty="0">
                <a:solidFill>
                  <a:srgbClr val="FF0000"/>
                </a:solidFill>
              </a:rPr>
              <a:t>BI-Variate Analysis</a:t>
            </a:r>
          </a:p>
        </p:txBody>
      </p:sp>
    </p:spTree>
    <p:extLst>
      <p:ext uri="{BB962C8B-B14F-4D97-AF65-F5344CB8AC3E}">
        <p14:creationId xmlns:p14="http://schemas.microsoft.com/office/powerpoint/2010/main" val="36955914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878BB-5B90-9BA2-500C-9036673BAF62}"/>
              </a:ext>
            </a:extLst>
          </p:cNvPr>
          <p:cNvSpPr>
            <a:spLocks noGrp="1"/>
          </p:cNvSpPr>
          <p:nvPr>
            <p:ph type="title"/>
          </p:nvPr>
        </p:nvSpPr>
        <p:spPr>
          <a:xfrm>
            <a:off x="320807" y="145813"/>
            <a:ext cx="4897146" cy="785365"/>
          </a:xfrm>
        </p:spPr>
        <p:txBody>
          <a:bodyPr>
            <a:normAutofit/>
          </a:bodyPr>
          <a:lstStyle/>
          <a:p>
            <a:r>
              <a:rPr lang="en-US" sz="4000" dirty="0">
                <a:solidFill>
                  <a:srgbClr val="FF0000"/>
                </a:solidFill>
              </a:rPr>
              <a:t>Multi Variate Analysis</a:t>
            </a:r>
          </a:p>
        </p:txBody>
      </p:sp>
      <p:pic>
        <p:nvPicPr>
          <p:cNvPr id="5" name="Picture 4">
            <a:extLst>
              <a:ext uri="{FF2B5EF4-FFF2-40B4-BE49-F238E27FC236}">
                <a16:creationId xmlns:a16="http://schemas.microsoft.com/office/drawing/2014/main" id="{2B2D6E9B-976C-4618-A113-D6E655B35BC5}"/>
              </a:ext>
            </a:extLst>
          </p:cNvPr>
          <p:cNvPicPr>
            <a:picLocks noChangeAspect="1"/>
          </p:cNvPicPr>
          <p:nvPr/>
        </p:nvPicPr>
        <p:blipFill>
          <a:blip r:embed="rId2"/>
          <a:stretch>
            <a:fillRect/>
          </a:stretch>
        </p:blipFill>
        <p:spPr>
          <a:xfrm>
            <a:off x="262083" y="1022667"/>
            <a:ext cx="7384686" cy="5835333"/>
          </a:xfrm>
          <a:prstGeom prst="rect">
            <a:avLst/>
          </a:prstGeom>
        </p:spPr>
      </p:pic>
    </p:spTree>
    <p:extLst>
      <p:ext uri="{BB962C8B-B14F-4D97-AF65-F5344CB8AC3E}">
        <p14:creationId xmlns:p14="http://schemas.microsoft.com/office/powerpoint/2010/main" val="10382607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2094C58-3128-914F-C001-99FD8AB4FD56}"/>
              </a:ext>
            </a:extLst>
          </p:cNvPr>
          <p:cNvPicPr>
            <a:picLocks noChangeAspect="1"/>
          </p:cNvPicPr>
          <p:nvPr/>
        </p:nvPicPr>
        <p:blipFill>
          <a:blip r:embed="rId2"/>
          <a:srcRect l="1192" t="1081" r="1433"/>
          <a:stretch>
            <a:fillRect/>
          </a:stretch>
        </p:blipFill>
        <p:spPr>
          <a:xfrm>
            <a:off x="293613" y="1132514"/>
            <a:ext cx="8464493" cy="5561902"/>
          </a:xfrm>
          <a:prstGeom prst="rect">
            <a:avLst/>
          </a:prstGeom>
        </p:spPr>
      </p:pic>
      <p:sp>
        <p:nvSpPr>
          <p:cNvPr id="6" name="Title 1">
            <a:extLst>
              <a:ext uri="{FF2B5EF4-FFF2-40B4-BE49-F238E27FC236}">
                <a16:creationId xmlns:a16="http://schemas.microsoft.com/office/drawing/2014/main" id="{B847BDB1-38C5-1051-A755-6C7248281D2D}"/>
              </a:ext>
            </a:extLst>
          </p:cNvPr>
          <p:cNvSpPr>
            <a:spLocks noGrp="1"/>
          </p:cNvSpPr>
          <p:nvPr>
            <p:ph type="title"/>
          </p:nvPr>
        </p:nvSpPr>
        <p:spPr>
          <a:xfrm>
            <a:off x="429864" y="254870"/>
            <a:ext cx="4897146" cy="785365"/>
          </a:xfrm>
        </p:spPr>
        <p:txBody>
          <a:bodyPr>
            <a:normAutofit/>
          </a:bodyPr>
          <a:lstStyle/>
          <a:p>
            <a:r>
              <a:rPr lang="en-US" sz="4000" dirty="0">
                <a:solidFill>
                  <a:srgbClr val="FF0000"/>
                </a:solidFill>
              </a:rPr>
              <a:t>Multi Variate Analysis</a:t>
            </a:r>
          </a:p>
        </p:txBody>
      </p:sp>
    </p:spTree>
    <p:extLst>
      <p:ext uri="{BB962C8B-B14F-4D97-AF65-F5344CB8AC3E}">
        <p14:creationId xmlns:p14="http://schemas.microsoft.com/office/powerpoint/2010/main" val="2399492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4869AF7-79A0-3C58-7CD7-79A6636B9581}"/>
              </a:ext>
            </a:extLst>
          </p:cNvPr>
          <p:cNvSpPr>
            <a:spLocks noGrp="1"/>
          </p:cNvSpPr>
          <p:nvPr>
            <p:ph type="title"/>
          </p:nvPr>
        </p:nvSpPr>
        <p:spPr>
          <a:xfrm>
            <a:off x="404697" y="150414"/>
            <a:ext cx="4897146" cy="785365"/>
          </a:xfrm>
        </p:spPr>
        <p:txBody>
          <a:bodyPr>
            <a:normAutofit/>
          </a:bodyPr>
          <a:lstStyle/>
          <a:p>
            <a:r>
              <a:rPr lang="en-US" sz="4000" dirty="0">
                <a:solidFill>
                  <a:srgbClr val="FF0000"/>
                </a:solidFill>
              </a:rPr>
              <a:t>Multi Variate Analysis</a:t>
            </a:r>
          </a:p>
        </p:txBody>
      </p:sp>
      <p:pic>
        <p:nvPicPr>
          <p:cNvPr id="7" name="Picture 6">
            <a:extLst>
              <a:ext uri="{FF2B5EF4-FFF2-40B4-BE49-F238E27FC236}">
                <a16:creationId xmlns:a16="http://schemas.microsoft.com/office/drawing/2014/main" id="{28ED87C5-6E29-7B48-591E-7BC1CA05BA67}"/>
              </a:ext>
            </a:extLst>
          </p:cNvPr>
          <p:cNvPicPr>
            <a:picLocks noChangeAspect="1"/>
          </p:cNvPicPr>
          <p:nvPr/>
        </p:nvPicPr>
        <p:blipFill>
          <a:blip r:embed="rId2"/>
          <a:srcRect l="3496" t="978" r="5418"/>
          <a:stretch>
            <a:fillRect/>
          </a:stretch>
        </p:blipFill>
        <p:spPr>
          <a:xfrm>
            <a:off x="327171" y="880844"/>
            <a:ext cx="8741327" cy="5826742"/>
          </a:xfrm>
          <a:prstGeom prst="rect">
            <a:avLst/>
          </a:prstGeom>
        </p:spPr>
      </p:pic>
    </p:spTree>
    <p:extLst>
      <p:ext uri="{BB962C8B-B14F-4D97-AF65-F5344CB8AC3E}">
        <p14:creationId xmlns:p14="http://schemas.microsoft.com/office/powerpoint/2010/main" val="29005704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9A8D2FC-6A46-77EE-B8CF-34B6EDC2AA0E}"/>
              </a:ext>
            </a:extLst>
          </p:cNvPr>
          <p:cNvSpPr>
            <a:spLocks noGrp="1"/>
          </p:cNvSpPr>
          <p:nvPr>
            <p:ph type="title"/>
          </p:nvPr>
        </p:nvSpPr>
        <p:spPr>
          <a:xfrm>
            <a:off x="379529" y="209137"/>
            <a:ext cx="4897146" cy="785365"/>
          </a:xfrm>
        </p:spPr>
        <p:txBody>
          <a:bodyPr>
            <a:normAutofit/>
          </a:bodyPr>
          <a:lstStyle/>
          <a:p>
            <a:r>
              <a:rPr lang="en-US" sz="4000" dirty="0">
                <a:solidFill>
                  <a:srgbClr val="FF0000"/>
                </a:solidFill>
              </a:rPr>
              <a:t>Multi Variate Analysis</a:t>
            </a:r>
          </a:p>
        </p:txBody>
      </p:sp>
      <p:pic>
        <p:nvPicPr>
          <p:cNvPr id="6" name="Picture 5">
            <a:extLst>
              <a:ext uri="{FF2B5EF4-FFF2-40B4-BE49-F238E27FC236}">
                <a16:creationId xmlns:a16="http://schemas.microsoft.com/office/drawing/2014/main" id="{4885AF2D-FDC1-133F-362F-82A97BBC7587}"/>
              </a:ext>
            </a:extLst>
          </p:cNvPr>
          <p:cNvPicPr>
            <a:picLocks noChangeAspect="1"/>
          </p:cNvPicPr>
          <p:nvPr/>
        </p:nvPicPr>
        <p:blipFill>
          <a:blip r:embed="rId2"/>
          <a:stretch>
            <a:fillRect/>
          </a:stretch>
        </p:blipFill>
        <p:spPr>
          <a:xfrm>
            <a:off x="379529" y="994502"/>
            <a:ext cx="7858459" cy="5725079"/>
          </a:xfrm>
          <a:prstGeom prst="rect">
            <a:avLst/>
          </a:prstGeom>
        </p:spPr>
      </p:pic>
    </p:spTree>
    <p:extLst>
      <p:ext uri="{BB962C8B-B14F-4D97-AF65-F5344CB8AC3E}">
        <p14:creationId xmlns:p14="http://schemas.microsoft.com/office/powerpoint/2010/main" val="15274270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82C13-DEFB-1FC8-3D34-859FD6ECEFC5}"/>
              </a:ext>
            </a:extLst>
          </p:cNvPr>
          <p:cNvSpPr>
            <a:spLocks noGrp="1"/>
          </p:cNvSpPr>
          <p:nvPr>
            <p:ph type="title"/>
          </p:nvPr>
        </p:nvSpPr>
        <p:spPr>
          <a:xfrm>
            <a:off x="368416" y="178368"/>
            <a:ext cx="5604545" cy="943557"/>
          </a:xfrm>
        </p:spPr>
        <p:txBody>
          <a:bodyPr>
            <a:normAutofit fontScale="90000"/>
          </a:bodyPr>
          <a:lstStyle/>
          <a:p>
            <a:r>
              <a:rPr lang="en-IN" b="1" dirty="0">
                <a:solidFill>
                  <a:srgbClr val="FF0000"/>
                </a:solidFill>
              </a:rPr>
              <a:t> Key Business Questions </a:t>
            </a:r>
            <a:endParaRPr lang="en-US" dirty="0">
              <a:solidFill>
                <a:srgbClr val="FF0000"/>
              </a:solidFill>
            </a:endParaRPr>
          </a:p>
        </p:txBody>
      </p:sp>
      <p:sp>
        <p:nvSpPr>
          <p:cNvPr id="4" name="Rectangle 1">
            <a:extLst>
              <a:ext uri="{FF2B5EF4-FFF2-40B4-BE49-F238E27FC236}">
                <a16:creationId xmlns:a16="http://schemas.microsoft.com/office/drawing/2014/main" id="{E57BC28A-EC6B-15BC-BA6A-5C1B51224524}"/>
              </a:ext>
            </a:extLst>
          </p:cNvPr>
          <p:cNvSpPr>
            <a:spLocks noGrp="1" noChangeArrowheads="1"/>
          </p:cNvSpPr>
          <p:nvPr>
            <p:ph type="body" idx="1"/>
          </p:nvPr>
        </p:nvSpPr>
        <p:spPr bwMode="auto">
          <a:xfrm>
            <a:off x="345505" y="1182231"/>
            <a:ext cx="1150099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rPr>
              <a:t>What factors most influence </a:t>
            </a:r>
            <a:r>
              <a:rPr kumimoji="0" lang="en-US" altLang="en-US" i="0" u="none" strike="noStrike" cap="none" normalizeH="0" baseline="0" dirty="0">
                <a:ln>
                  <a:noFill/>
                </a:ln>
                <a:solidFill>
                  <a:schemeClr val="tx1"/>
                </a:solidFill>
                <a:effectLst/>
                <a:latin typeface="Arial" panose="020B0604020202020204" pitchFamily="34" charset="0"/>
              </a:rPr>
              <a:t>used-car resale prices</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solidFill>
                  <a:schemeClr val="tx1"/>
                </a:solidFill>
                <a:latin typeface="Arial" panose="020B0604020202020204" pitchFamily="34" charset="0"/>
              </a:rPr>
              <a:t>H</a:t>
            </a:r>
            <a:r>
              <a:rPr kumimoji="0" lang="en-US" altLang="en-US" b="0" i="0" u="none" strike="noStrike" cap="none" normalizeH="0" baseline="0" dirty="0">
                <a:ln>
                  <a:noFill/>
                </a:ln>
                <a:solidFill>
                  <a:schemeClr val="tx1"/>
                </a:solidFill>
                <a:effectLst/>
                <a:latin typeface="Arial" panose="020B0604020202020204" pitchFamily="34" charset="0"/>
              </a:rPr>
              <a:t>ow do </a:t>
            </a:r>
            <a:r>
              <a:rPr kumimoji="0" lang="en-US" altLang="en-US" i="0" u="none" strike="noStrike" cap="none" normalizeH="0" baseline="0" dirty="0">
                <a:ln>
                  <a:noFill/>
                </a:ln>
                <a:solidFill>
                  <a:schemeClr val="tx1"/>
                </a:solidFill>
                <a:effectLst/>
                <a:latin typeface="Arial" panose="020B0604020202020204" pitchFamily="34" charset="0"/>
              </a:rPr>
              <a:t>vehicle age and kilometers driven </a:t>
            </a:r>
            <a:r>
              <a:rPr kumimoji="0" lang="en-US" altLang="en-US" b="0" i="0" u="none" strike="noStrike" cap="none" normalizeH="0" baseline="0" dirty="0">
                <a:ln>
                  <a:noFill/>
                </a:ln>
                <a:solidFill>
                  <a:schemeClr val="tx1"/>
                </a:solidFill>
                <a:effectLst/>
                <a:latin typeface="Arial" panose="020B0604020202020204" pitchFamily="34" charset="0"/>
              </a:rPr>
              <a:t>affect price depreciation?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rPr>
              <a:t>Do </a:t>
            </a:r>
            <a:r>
              <a:rPr kumimoji="0" lang="en-US" altLang="en-US" i="0" u="none" strike="noStrike" cap="none" normalizeH="0" baseline="0" dirty="0">
                <a:ln>
                  <a:noFill/>
                </a:ln>
                <a:solidFill>
                  <a:schemeClr val="tx1"/>
                </a:solidFill>
                <a:effectLst/>
                <a:latin typeface="Arial" panose="020B0604020202020204" pitchFamily="34" charset="0"/>
              </a:rPr>
              <a:t>fuel type and transmission type </a:t>
            </a:r>
            <a:r>
              <a:rPr kumimoji="0" lang="en-US" altLang="en-US" b="0" i="0" u="none" strike="noStrike" cap="none" normalizeH="0" baseline="0" dirty="0">
                <a:ln>
                  <a:noFill/>
                </a:ln>
                <a:solidFill>
                  <a:schemeClr val="tx1"/>
                </a:solidFill>
                <a:effectLst/>
                <a:latin typeface="Arial" panose="020B0604020202020204" pitchFamily="34" charset="0"/>
              </a:rPr>
              <a:t>impact resale value?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rPr>
              <a:t>How does </a:t>
            </a:r>
            <a:r>
              <a:rPr kumimoji="0" lang="en-US" altLang="en-US" i="0" u="none" strike="noStrike" cap="none" normalizeH="0" baseline="0" dirty="0">
                <a:ln>
                  <a:noFill/>
                </a:ln>
                <a:solidFill>
                  <a:schemeClr val="tx1"/>
                </a:solidFill>
                <a:effectLst/>
                <a:latin typeface="Arial" panose="020B0604020202020204" pitchFamily="34" charset="0"/>
              </a:rPr>
              <a:t>pricing vary across different cities</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rPr>
              <a:t>Which </a:t>
            </a:r>
            <a:r>
              <a:rPr kumimoji="0" lang="en-US" altLang="en-US" i="0" u="none" strike="noStrike" cap="none" normalizeH="0" baseline="0" dirty="0">
                <a:ln>
                  <a:noFill/>
                </a:ln>
                <a:solidFill>
                  <a:schemeClr val="tx1"/>
                </a:solidFill>
                <a:effectLst/>
                <a:latin typeface="Arial" panose="020B0604020202020204" pitchFamily="34" charset="0"/>
              </a:rPr>
              <a:t>brands retain higher resale value </a:t>
            </a:r>
            <a:r>
              <a:rPr kumimoji="0" lang="en-US" altLang="en-US" b="0" i="0" u="none" strike="noStrike" cap="none" normalizeH="0" baseline="0" dirty="0">
                <a:ln>
                  <a:noFill/>
                </a:ln>
                <a:solidFill>
                  <a:schemeClr val="tx1"/>
                </a:solidFill>
                <a:effectLst/>
                <a:latin typeface="Arial" panose="020B0604020202020204" pitchFamily="34" charset="0"/>
              </a:rPr>
              <a:t>in the used-car market?</a:t>
            </a:r>
          </a:p>
        </p:txBody>
      </p:sp>
    </p:spTree>
    <p:extLst>
      <p:ext uri="{BB962C8B-B14F-4D97-AF65-F5344CB8AC3E}">
        <p14:creationId xmlns:p14="http://schemas.microsoft.com/office/powerpoint/2010/main" val="3342862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F3A60-AAD4-F9F2-576B-D8B1E461F6B1}"/>
              </a:ext>
            </a:extLst>
          </p:cNvPr>
          <p:cNvSpPr>
            <a:spLocks noGrp="1"/>
          </p:cNvSpPr>
          <p:nvPr>
            <p:ph type="title"/>
          </p:nvPr>
        </p:nvSpPr>
        <p:spPr>
          <a:xfrm>
            <a:off x="309693" y="146340"/>
            <a:ext cx="2492229" cy="851279"/>
          </a:xfrm>
        </p:spPr>
        <p:txBody>
          <a:bodyPr/>
          <a:lstStyle/>
          <a:p>
            <a:r>
              <a:rPr lang="en-US" dirty="0">
                <a:solidFill>
                  <a:srgbClr val="FF0000"/>
                </a:solidFill>
              </a:rPr>
              <a:t>INSIGHTS</a:t>
            </a:r>
          </a:p>
        </p:txBody>
      </p:sp>
      <p:sp>
        <p:nvSpPr>
          <p:cNvPr id="3" name="Text Placeholder 2">
            <a:extLst>
              <a:ext uri="{FF2B5EF4-FFF2-40B4-BE49-F238E27FC236}">
                <a16:creationId xmlns:a16="http://schemas.microsoft.com/office/drawing/2014/main" id="{C3D38249-5750-31E7-BB19-7BF24551420B}"/>
              </a:ext>
            </a:extLst>
          </p:cNvPr>
          <p:cNvSpPr>
            <a:spLocks noGrp="1"/>
          </p:cNvSpPr>
          <p:nvPr>
            <p:ph type="body" idx="1"/>
          </p:nvPr>
        </p:nvSpPr>
        <p:spPr>
          <a:xfrm>
            <a:off x="309693" y="997619"/>
            <a:ext cx="11468450" cy="5227012"/>
          </a:xfrm>
        </p:spPr>
        <p:txBody>
          <a:bodyPr>
            <a:normAutofit/>
          </a:bodyPr>
          <a:lstStyle/>
          <a:p>
            <a:pPr marL="114300" indent="0">
              <a:buNone/>
            </a:pPr>
            <a:r>
              <a:rPr lang="en-US" b="1" dirty="0"/>
              <a:t>Key Factors Affecting Used-Car Prices</a:t>
            </a:r>
          </a:p>
          <a:p>
            <a:pPr marL="114300" indent="0">
              <a:buNone/>
            </a:pPr>
            <a:r>
              <a:rPr lang="en-US" sz="2000" dirty="0"/>
              <a:t>Used-car resale prices are mainly influenced by manufacturing year, EMI, fuel type, transmission, and city.</a:t>
            </a:r>
          </a:p>
          <a:p>
            <a:pPr marL="114300" indent="0">
              <a:buNone/>
            </a:pPr>
            <a:r>
              <a:rPr lang="en-US" sz="2000" dirty="0"/>
              <a:t>The correlation analysis shows:</a:t>
            </a:r>
          </a:p>
          <a:p>
            <a:pPr lvl="1"/>
            <a:r>
              <a:rPr lang="en-US" sz="1800" dirty="0"/>
              <a:t>Price vs EMI </a:t>
            </a:r>
            <a:r>
              <a:rPr lang="en-US" sz="1800" b="1" dirty="0"/>
              <a:t>= 0.54</a:t>
            </a:r>
            <a:r>
              <a:rPr lang="en-US" sz="1800" dirty="0"/>
              <a:t> (moderate positive relationship)</a:t>
            </a:r>
          </a:p>
          <a:p>
            <a:pPr lvl="1"/>
            <a:r>
              <a:rPr lang="en-US" sz="1800" dirty="0"/>
              <a:t>Final Price vs EMI </a:t>
            </a:r>
            <a:r>
              <a:rPr lang="en-US" sz="1800" b="1" dirty="0"/>
              <a:t>= 0.70</a:t>
            </a:r>
            <a:r>
              <a:rPr lang="en-US" sz="1800" dirty="0"/>
              <a:t> (strong relationship)</a:t>
            </a:r>
          </a:p>
          <a:p>
            <a:pPr lvl="1"/>
            <a:r>
              <a:rPr lang="en-US" sz="1800" dirty="0"/>
              <a:t>Price vs Year </a:t>
            </a:r>
            <a:r>
              <a:rPr lang="en-US" sz="1800" b="1" dirty="0"/>
              <a:t>= 0.33</a:t>
            </a:r>
            <a:r>
              <a:rPr lang="en-US" sz="1800" dirty="0"/>
              <a:t> (newer cars generally cost more)</a:t>
            </a:r>
          </a:p>
          <a:p>
            <a:pPr marL="114300" indent="0">
              <a:buNone/>
            </a:pPr>
            <a:r>
              <a:rPr lang="en-US" sz="2000" dirty="0"/>
              <a:t>This shows that financial and vehicle characteristics together drive pricing.</a:t>
            </a:r>
          </a:p>
          <a:p>
            <a:pPr marL="114300" indent="0">
              <a:buNone/>
            </a:pPr>
            <a:r>
              <a:rPr lang="en-US" b="1" dirty="0"/>
              <a:t>EMI as an Affordability Indicator</a:t>
            </a:r>
          </a:p>
          <a:p>
            <a:r>
              <a:rPr lang="en-US" sz="2400" dirty="0"/>
              <a:t>As the car price increases, EMI also increases.</a:t>
            </a:r>
          </a:p>
          <a:p>
            <a:r>
              <a:rPr lang="en-US" sz="2400" dirty="0"/>
              <a:t>The strong correlation (</a:t>
            </a:r>
            <a:r>
              <a:rPr lang="en-US" sz="2400" b="1" dirty="0"/>
              <a:t>0.70</a:t>
            </a:r>
            <a:r>
              <a:rPr lang="en-US" sz="2400" dirty="0"/>
              <a:t>) between final price and EMI shows that:</a:t>
            </a:r>
          </a:p>
          <a:p>
            <a:pPr lvl="1"/>
            <a:r>
              <a:rPr lang="en-US" sz="2000" dirty="0"/>
              <a:t>EMI can be used as a reliable indicator of affordability and price level.</a:t>
            </a:r>
          </a:p>
          <a:p>
            <a:pPr marL="114300" indent="0">
              <a:buNone/>
            </a:pPr>
            <a:endParaRPr lang="en-US" sz="2000" dirty="0"/>
          </a:p>
          <a:p>
            <a:pPr marL="114300" indent="0">
              <a:buNone/>
            </a:pPr>
            <a:endParaRPr lang="en-US" dirty="0"/>
          </a:p>
        </p:txBody>
      </p:sp>
    </p:spTree>
    <p:extLst>
      <p:ext uri="{BB962C8B-B14F-4D97-AF65-F5344CB8AC3E}">
        <p14:creationId xmlns:p14="http://schemas.microsoft.com/office/powerpoint/2010/main" val="11089471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BF2BC-5E56-E1F5-1DD4-6FEA3D1F6BC2}"/>
              </a:ext>
            </a:extLst>
          </p:cNvPr>
          <p:cNvSpPr>
            <a:spLocks noGrp="1"/>
          </p:cNvSpPr>
          <p:nvPr>
            <p:ph type="title"/>
          </p:nvPr>
        </p:nvSpPr>
        <p:spPr>
          <a:xfrm>
            <a:off x="368416" y="197346"/>
            <a:ext cx="2483840" cy="842889"/>
          </a:xfrm>
        </p:spPr>
        <p:txBody>
          <a:bodyPr/>
          <a:lstStyle/>
          <a:p>
            <a:r>
              <a:rPr lang="en-US" dirty="0">
                <a:solidFill>
                  <a:srgbClr val="FF0000"/>
                </a:solidFill>
              </a:rPr>
              <a:t>INSIGHTS</a:t>
            </a:r>
          </a:p>
        </p:txBody>
      </p:sp>
      <p:sp>
        <p:nvSpPr>
          <p:cNvPr id="3" name="Text Placeholder 2">
            <a:extLst>
              <a:ext uri="{FF2B5EF4-FFF2-40B4-BE49-F238E27FC236}">
                <a16:creationId xmlns:a16="http://schemas.microsoft.com/office/drawing/2014/main" id="{3EC2D6F8-7A55-BB9E-F20A-76401A9F5777}"/>
              </a:ext>
            </a:extLst>
          </p:cNvPr>
          <p:cNvSpPr>
            <a:spLocks noGrp="1"/>
          </p:cNvSpPr>
          <p:nvPr>
            <p:ph type="body" idx="1"/>
          </p:nvPr>
        </p:nvSpPr>
        <p:spPr>
          <a:xfrm>
            <a:off x="586529" y="1140903"/>
            <a:ext cx="10939944" cy="5083728"/>
          </a:xfrm>
        </p:spPr>
        <p:txBody>
          <a:bodyPr>
            <a:normAutofit lnSpcReduction="10000"/>
          </a:bodyPr>
          <a:lstStyle/>
          <a:p>
            <a:pPr marL="114300" indent="0">
              <a:buNone/>
            </a:pPr>
            <a:r>
              <a:rPr lang="en-US" b="1" dirty="0"/>
              <a:t>Impact of Vehicle Age &amp; Mileage</a:t>
            </a:r>
          </a:p>
          <a:p>
            <a:r>
              <a:rPr lang="en-US" dirty="0"/>
              <a:t>Newer cars tend to have higher resale prices, but the relationship is not perfect.</a:t>
            </a:r>
          </a:p>
          <a:p>
            <a:r>
              <a:rPr lang="en-US" dirty="0"/>
              <a:t>Mileage (KM Driven) does not show a strong linear relationship with price</a:t>
            </a:r>
            <a:br>
              <a:rPr lang="en-US" dirty="0"/>
            </a:br>
            <a:r>
              <a:rPr lang="en-US" dirty="0"/>
              <a:t>(Price vs KM Driven = –0.043).</a:t>
            </a:r>
          </a:p>
          <a:p>
            <a:r>
              <a:rPr lang="en-US" dirty="0"/>
              <a:t>Most cars are driven between 35,000 km and 75,000 km, with an average around 50,000 km.</a:t>
            </a:r>
          </a:p>
          <a:p>
            <a:r>
              <a:rPr lang="en-US" dirty="0"/>
              <a:t>High-priced cars (₹15+ lakhs) are usually driven below 20,000 km.</a:t>
            </a:r>
          </a:p>
          <a:p>
            <a:r>
              <a:rPr lang="en-US" dirty="0"/>
              <a:t>Cars priced between ₹5–10 lakhs are mostly driven 20,000–60,000 km.</a:t>
            </a:r>
          </a:p>
          <a:p>
            <a:pPr marL="114300" indent="0">
              <a:buNone/>
            </a:pPr>
            <a:r>
              <a:rPr lang="en-US" dirty="0"/>
              <a:t>Mileage affects price in a non-linear way, especially at higher usage levels.</a:t>
            </a:r>
          </a:p>
          <a:p>
            <a:pPr marL="114300" indent="0">
              <a:buNone/>
            </a:pPr>
            <a:endParaRPr lang="en-US" dirty="0"/>
          </a:p>
        </p:txBody>
      </p:sp>
    </p:spTree>
    <p:extLst>
      <p:ext uri="{BB962C8B-B14F-4D97-AF65-F5344CB8AC3E}">
        <p14:creationId xmlns:p14="http://schemas.microsoft.com/office/powerpoint/2010/main" val="31758457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A9DEE-BDE5-205A-B0B4-B4ABA8BC9E29}"/>
              </a:ext>
            </a:extLst>
          </p:cNvPr>
          <p:cNvSpPr>
            <a:spLocks noGrp="1"/>
          </p:cNvSpPr>
          <p:nvPr>
            <p:ph type="title"/>
          </p:nvPr>
        </p:nvSpPr>
        <p:spPr>
          <a:xfrm>
            <a:off x="343251" y="306402"/>
            <a:ext cx="2399950" cy="918391"/>
          </a:xfrm>
        </p:spPr>
        <p:txBody>
          <a:bodyPr/>
          <a:lstStyle/>
          <a:p>
            <a:r>
              <a:rPr lang="en-US" dirty="0">
                <a:solidFill>
                  <a:srgbClr val="FF0000"/>
                </a:solidFill>
              </a:rPr>
              <a:t>INSIGHTS</a:t>
            </a:r>
          </a:p>
        </p:txBody>
      </p:sp>
      <p:sp>
        <p:nvSpPr>
          <p:cNvPr id="3" name="Text Placeholder 2">
            <a:extLst>
              <a:ext uri="{FF2B5EF4-FFF2-40B4-BE49-F238E27FC236}">
                <a16:creationId xmlns:a16="http://schemas.microsoft.com/office/drawing/2014/main" id="{4BC4E4DE-4923-361E-8FF7-6FE925372C92}"/>
              </a:ext>
            </a:extLst>
          </p:cNvPr>
          <p:cNvSpPr>
            <a:spLocks noGrp="1"/>
          </p:cNvSpPr>
          <p:nvPr>
            <p:ph type="body" idx="1"/>
          </p:nvPr>
        </p:nvSpPr>
        <p:spPr>
          <a:xfrm>
            <a:off x="662031" y="1224794"/>
            <a:ext cx="11065777" cy="5041782"/>
          </a:xfrm>
        </p:spPr>
        <p:txBody>
          <a:bodyPr>
            <a:normAutofit fontScale="92500" lnSpcReduction="20000"/>
          </a:bodyPr>
          <a:lstStyle/>
          <a:p>
            <a:pPr marL="114300" indent="0">
              <a:buNone/>
            </a:pPr>
            <a:r>
              <a:rPr lang="en-US" b="1" dirty="0"/>
              <a:t>City-Wise Pricing Trends</a:t>
            </a:r>
          </a:p>
          <a:p>
            <a:r>
              <a:rPr lang="en-US" sz="2600" dirty="0"/>
              <a:t>New Delhi has the highest number of used-car listings, making it the most active market.</a:t>
            </a:r>
          </a:p>
          <a:p>
            <a:r>
              <a:rPr lang="en-US" sz="2600" dirty="0"/>
              <a:t>The top 5 cities each sell more than 150 cars.</a:t>
            </a:r>
          </a:p>
          <a:p>
            <a:r>
              <a:rPr lang="en-US" sz="2600" dirty="0"/>
              <a:t>Most cities have an average resale price above ₹5 lakhs.</a:t>
            </a:r>
          </a:p>
          <a:p>
            <a:r>
              <a:rPr lang="en-US" sz="2600" dirty="0"/>
              <a:t>Chandigarh shows the highest average prices, mainly due to a few high-price outliers (₹20+ lakhs).</a:t>
            </a:r>
          </a:p>
          <a:p>
            <a:r>
              <a:rPr lang="en-US" sz="2600" dirty="0"/>
              <a:t>City-specific patterns:</a:t>
            </a:r>
          </a:p>
          <a:p>
            <a:r>
              <a:rPr lang="en-US" sz="2600" dirty="0"/>
              <a:t>New Delhi: Over 50% diesel cars priced above ₹8 lakhs; petrol cars mostly ₹4–6.5 lakhs.</a:t>
            </a:r>
          </a:p>
          <a:p>
            <a:r>
              <a:rPr lang="en-US" sz="2600" dirty="0"/>
              <a:t>Hyderabad: Diesel cars dominate, mostly priced above ₹5 lakhs.</a:t>
            </a:r>
          </a:p>
          <a:p>
            <a:r>
              <a:rPr lang="en-US" sz="2600" dirty="0"/>
              <a:t>Mumbai: Limited data, prices range from below ₹5 lakhs to ₹15 lakhs.</a:t>
            </a:r>
          </a:p>
          <a:p>
            <a:r>
              <a:rPr lang="en-US" sz="2600" dirty="0"/>
              <a:t>Indore: Mostly petrol cars priced below ₹5 lakhs.</a:t>
            </a:r>
          </a:p>
          <a:p>
            <a:pPr marL="114300" indent="0">
              <a:buNone/>
            </a:pPr>
            <a:endParaRPr lang="en-US" dirty="0"/>
          </a:p>
        </p:txBody>
      </p:sp>
    </p:spTree>
    <p:extLst>
      <p:ext uri="{BB962C8B-B14F-4D97-AF65-F5344CB8AC3E}">
        <p14:creationId xmlns:p14="http://schemas.microsoft.com/office/powerpoint/2010/main" val="5669229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C4A20E7-8058-87DE-2CA0-D6ED0035A064}"/>
              </a:ext>
            </a:extLst>
          </p:cNvPr>
          <p:cNvSpPr>
            <a:spLocks noGrp="1"/>
          </p:cNvSpPr>
          <p:nvPr>
            <p:ph type="body" idx="1"/>
          </p:nvPr>
        </p:nvSpPr>
        <p:spPr>
          <a:xfrm>
            <a:off x="393700" y="201613"/>
            <a:ext cx="11383963" cy="6022975"/>
          </a:xfrm>
        </p:spPr>
        <p:txBody>
          <a:bodyPr>
            <a:normAutofit fontScale="77500" lnSpcReduction="20000"/>
          </a:bodyPr>
          <a:lstStyle/>
          <a:p>
            <a:pPr marL="114300" indent="0">
              <a:buNone/>
            </a:pPr>
            <a:r>
              <a:rPr lang="en-US" b="1" dirty="0"/>
              <a:t>Brand-Wise Insights</a:t>
            </a:r>
          </a:p>
          <a:p>
            <a:r>
              <a:rPr lang="en-US" dirty="0"/>
              <a:t>Maruti is the most listed brand (~545 cars), followed by Hyundai and Tata.</a:t>
            </a:r>
          </a:p>
          <a:p>
            <a:r>
              <a:rPr lang="en-US" dirty="0"/>
              <a:t>Premium brands like Jaguar, Kia, and Mahindra have average prices above ₹15 lakhs.</a:t>
            </a:r>
          </a:p>
          <a:p>
            <a:r>
              <a:rPr lang="en-US" dirty="0"/>
              <a:t>Skoda and Jeep fall into the mid-price segment (₹6–6.5 lakhs).</a:t>
            </a:r>
          </a:p>
          <a:p>
            <a:pPr marL="114300" indent="0">
              <a:buNone/>
            </a:pPr>
            <a:r>
              <a:rPr lang="en-US" dirty="0"/>
              <a:t> Popular brands sell more, but premium brands retain higher resale value.</a:t>
            </a:r>
          </a:p>
          <a:p>
            <a:pPr marL="114300" indent="0">
              <a:buNone/>
            </a:pPr>
            <a:endParaRPr lang="en-US" b="1" dirty="0"/>
          </a:p>
          <a:p>
            <a:pPr marL="114300" indent="0">
              <a:buNone/>
            </a:pPr>
            <a:r>
              <a:rPr lang="en-US" b="1" dirty="0"/>
              <a:t>Fuel Type &amp; Transmission Insights</a:t>
            </a:r>
          </a:p>
          <a:p>
            <a:pPr marL="114300" indent="0">
              <a:buNone/>
            </a:pPr>
            <a:r>
              <a:rPr lang="en-US" dirty="0"/>
              <a:t>Fuel Type</a:t>
            </a:r>
          </a:p>
          <a:p>
            <a:r>
              <a:rPr lang="en-US" dirty="0"/>
              <a:t>Petrol cars dominate the market (more than 75%).</a:t>
            </a:r>
          </a:p>
          <a:p>
            <a:r>
              <a:rPr lang="en-US" dirty="0"/>
              <a:t>Diesel cars are second most common and mostly priced ₹5–10 lakhs.</a:t>
            </a:r>
          </a:p>
          <a:p>
            <a:r>
              <a:rPr lang="en-US" dirty="0"/>
              <a:t>CNG cars are very limited and mostly priced below ₹5 lakhs.</a:t>
            </a:r>
          </a:p>
          <a:p>
            <a:pPr marL="114300" indent="0">
              <a:buNone/>
            </a:pPr>
            <a:r>
              <a:rPr lang="en-US" dirty="0"/>
              <a:t>Transmission</a:t>
            </a:r>
          </a:p>
          <a:p>
            <a:r>
              <a:rPr lang="en-US" dirty="0"/>
              <a:t>Manual cars dominate by volume (65–75%).</a:t>
            </a:r>
          </a:p>
          <a:p>
            <a:r>
              <a:rPr lang="en-US" dirty="0"/>
              <a:t>Automatic cars are priced higher on average.</a:t>
            </a:r>
          </a:p>
          <a:p>
            <a:r>
              <a:rPr lang="en-US" dirty="0"/>
              <a:t>Manual cars are mostly below ₹5 lakhs.</a:t>
            </a:r>
          </a:p>
          <a:p>
            <a:r>
              <a:rPr lang="en-US" dirty="0"/>
              <a:t>Automatic cars show high-price outliers (₹20–25 lakhs)</a:t>
            </a:r>
          </a:p>
          <a:p>
            <a:pPr marL="114300" indent="0">
              <a:buNone/>
            </a:pPr>
            <a:endParaRPr lang="en-US" dirty="0"/>
          </a:p>
        </p:txBody>
      </p:sp>
    </p:spTree>
    <p:extLst>
      <p:ext uri="{BB962C8B-B14F-4D97-AF65-F5344CB8AC3E}">
        <p14:creationId xmlns:p14="http://schemas.microsoft.com/office/powerpoint/2010/main" val="20868511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445</TotalTime>
  <Words>1340</Words>
  <Application>Microsoft Office PowerPoint</Application>
  <PresentationFormat>Widescreen</PresentationFormat>
  <Paragraphs>123</Paragraphs>
  <Slides>26</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Lato Black</vt:lpstr>
      <vt:lpstr>Calibri</vt:lpstr>
      <vt:lpstr>Arial</vt:lpstr>
      <vt:lpstr>Libre Baskerville</vt:lpstr>
      <vt:lpstr>Office Theme</vt:lpstr>
      <vt:lpstr>PowerPoint Presentation</vt:lpstr>
      <vt:lpstr>PowerPoint Presentation</vt:lpstr>
      <vt:lpstr>Used Car Pricing &amp; Valuation Problem</vt:lpstr>
      <vt:lpstr>Objective of the Project</vt:lpstr>
      <vt:lpstr>Web Scraping</vt:lpstr>
      <vt:lpstr>Summary of Data </vt:lpstr>
      <vt:lpstr>Exploratory Data Analysis</vt:lpstr>
      <vt:lpstr>Data Manipulation Steps</vt:lpstr>
      <vt:lpstr>Univariate Analysis</vt:lpstr>
      <vt:lpstr>Univariate Analysis</vt:lpstr>
      <vt:lpstr>BI-Variate Analysis</vt:lpstr>
      <vt:lpstr>PowerPoint Presentation</vt:lpstr>
      <vt:lpstr>PowerPoint Presentation</vt:lpstr>
      <vt:lpstr>PowerPoint Presentation</vt:lpstr>
      <vt:lpstr>PowerPoint Presentation</vt:lpstr>
      <vt:lpstr>PowerPoint Presentation</vt:lpstr>
      <vt:lpstr>Multi Variate Analysis</vt:lpstr>
      <vt:lpstr>Multi Variate Analysis</vt:lpstr>
      <vt:lpstr>Multi Variate Analysis</vt:lpstr>
      <vt:lpstr>Multi Variate Analysis</vt:lpstr>
      <vt:lpstr> Key Business Questions </vt:lpstr>
      <vt:lpstr>INSIGHTS</vt:lpstr>
      <vt:lpstr>INSIGHTS</vt:lpstr>
      <vt:lpstr>INSIGHTS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Surisetti Vamsi Krishna</cp:lastModifiedBy>
  <cp:revision>4</cp:revision>
  <dcterms:created xsi:type="dcterms:W3CDTF">2021-02-16T05:19:01Z</dcterms:created>
  <dcterms:modified xsi:type="dcterms:W3CDTF">2026-01-31T10:21:49Z</dcterms:modified>
</cp:coreProperties>
</file>